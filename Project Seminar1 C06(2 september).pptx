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9" r:id="rId2"/>
    <p:sldId id="260" r:id="rId3"/>
    <p:sldId id="289" r:id="rId4"/>
    <p:sldId id="264" r:id="rId5"/>
    <p:sldId id="281" r:id="rId6"/>
    <p:sldId id="272" r:id="rId7"/>
    <p:sldId id="273" r:id="rId8"/>
    <p:sldId id="283" r:id="rId9"/>
    <p:sldId id="284" r:id="rId10"/>
    <p:sldId id="274" r:id="rId11"/>
    <p:sldId id="263" r:id="rId12"/>
    <p:sldId id="270" r:id="rId13"/>
    <p:sldId id="271" r:id="rId14"/>
    <p:sldId id="278" r:id="rId15"/>
    <p:sldId id="288" r:id="rId16"/>
    <p:sldId id="279" r:id="rId17"/>
    <p:sldId id="277" r:id="rId18"/>
    <p:sldId id="275" r:id="rId19"/>
    <p:sldId id="285" r:id="rId20"/>
    <p:sldId id="287" r:id="rId21"/>
    <p:sldId id="286" r:id="rId22"/>
    <p:sldId id="265" r:id="rId23"/>
  </p:sldIdLst>
  <p:sldSz cx="9144000" cy="5143500" type="screen16x9"/>
  <p:notesSz cx="6858000" cy="9144000"/>
  <p:embeddedFontLst>
    <p:embeddedFont>
      <p:font typeface="Montserrat" panose="000005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B21"/>
    <a:srgbClr val="FF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020" autoAdjust="0"/>
  </p:normalViewPr>
  <p:slideViewPr>
    <p:cSldViewPr snapToGrid="0">
      <p:cViewPr varScale="1">
        <p:scale>
          <a:sx n="109" d="100"/>
          <a:sy n="109" d="100"/>
        </p:scale>
        <p:origin x="706"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2346952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652077f308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652077f308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8042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652077f30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652077f30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7961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652077f308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652077f308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989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652077f30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652077f30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83896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652077f308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652077f308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3898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652077f308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1879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ECFF05FE-788E-0D66-810A-A508D6C29369}"/>
            </a:ext>
          </a:extLst>
        </p:cNvPr>
        <p:cNvGrpSpPr/>
        <p:nvPr/>
      </p:nvGrpSpPr>
      <p:grpSpPr>
        <a:xfrm>
          <a:off x="0" y="0"/>
          <a:ext cx="0" cy="0"/>
          <a:chOff x="0" y="0"/>
          <a:chExt cx="0" cy="0"/>
        </a:xfrm>
      </p:grpSpPr>
      <p:sp>
        <p:nvSpPr>
          <p:cNvPr id="116" name="Google Shape;116;g1652077f308_0_100:notes">
            <a:extLst>
              <a:ext uri="{FF2B5EF4-FFF2-40B4-BE49-F238E27FC236}">
                <a16:creationId xmlns:a16="http://schemas.microsoft.com/office/drawing/2014/main" id="{BC54432E-E1D1-54F5-60EA-51E891B9BC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a:extLst>
              <a:ext uri="{FF2B5EF4-FFF2-40B4-BE49-F238E27FC236}">
                <a16:creationId xmlns:a16="http://schemas.microsoft.com/office/drawing/2014/main" id="{895A29B6-A97B-D48D-151F-C0D29AE55D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4258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4AD3ECAD-3EE8-B8C2-6D70-B5E2D27BD40F}"/>
            </a:ext>
          </a:extLst>
        </p:cNvPr>
        <p:cNvGrpSpPr/>
        <p:nvPr/>
      </p:nvGrpSpPr>
      <p:grpSpPr>
        <a:xfrm>
          <a:off x="0" y="0"/>
          <a:ext cx="0" cy="0"/>
          <a:chOff x="0" y="0"/>
          <a:chExt cx="0" cy="0"/>
        </a:xfrm>
      </p:grpSpPr>
      <p:sp>
        <p:nvSpPr>
          <p:cNvPr id="116" name="Google Shape;116;g1652077f308_0_100:notes">
            <a:extLst>
              <a:ext uri="{FF2B5EF4-FFF2-40B4-BE49-F238E27FC236}">
                <a16:creationId xmlns:a16="http://schemas.microsoft.com/office/drawing/2014/main" id="{B4A3881A-F5A0-5EF3-8584-4C6033F70C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a:extLst>
              <a:ext uri="{FF2B5EF4-FFF2-40B4-BE49-F238E27FC236}">
                <a16:creationId xmlns:a16="http://schemas.microsoft.com/office/drawing/2014/main" id="{0A2342E9-1BCA-30EA-56FB-5B0FFF03A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408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C634FFF-AA7F-6419-A9F5-5A5D865DE661}"/>
            </a:ext>
          </a:extLst>
        </p:cNvPr>
        <p:cNvGrpSpPr/>
        <p:nvPr/>
      </p:nvGrpSpPr>
      <p:grpSpPr>
        <a:xfrm>
          <a:off x="0" y="0"/>
          <a:ext cx="0" cy="0"/>
          <a:chOff x="0" y="0"/>
          <a:chExt cx="0" cy="0"/>
        </a:xfrm>
      </p:grpSpPr>
      <p:sp>
        <p:nvSpPr>
          <p:cNvPr id="116" name="Google Shape;116;g1652077f308_0_100:notes">
            <a:extLst>
              <a:ext uri="{FF2B5EF4-FFF2-40B4-BE49-F238E27FC236}">
                <a16:creationId xmlns:a16="http://schemas.microsoft.com/office/drawing/2014/main" id="{7513237A-323B-DFAD-9B3D-8EEF798F19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a:extLst>
              <a:ext uri="{FF2B5EF4-FFF2-40B4-BE49-F238E27FC236}">
                <a16:creationId xmlns:a16="http://schemas.microsoft.com/office/drawing/2014/main" id="{3496EAA4-0720-8858-08A7-AFC6B3615E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75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392E7F2C-8AB1-616C-271E-3AA320D2489F}"/>
            </a:ext>
          </a:extLst>
        </p:cNvPr>
        <p:cNvGrpSpPr/>
        <p:nvPr/>
      </p:nvGrpSpPr>
      <p:grpSpPr>
        <a:xfrm>
          <a:off x="0" y="0"/>
          <a:ext cx="0" cy="0"/>
          <a:chOff x="0" y="0"/>
          <a:chExt cx="0" cy="0"/>
        </a:xfrm>
      </p:grpSpPr>
      <p:sp>
        <p:nvSpPr>
          <p:cNvPr id="116" name="Google Shape;116;g1652077f308_0_100:notes">
            <a:extLst>
              <a:ext uri="{FF2B5EF4-FFF2-40B4-BE49-F238E27FC236}">
                <a16:creationId xmlns:a16="http://schemas.microsoft.com/office/drawing/2014/main" id="{9A1BD01E-5DE8-739D-C3B9-A451DE80B8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a:extLst>
              <a:ext uri="{FF2B5EF4-FFF2-40B4-BE49-F238E27FC236}">
                <a16:creationId xmlns:a16="http://schemas.microsoft.com/office/drawing/2014/main" id="{670CAA90-265D-E228-8F76-62C6A46C22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0176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293268E-2187-A7BD-9CB2-FCA65C8CB92D}"/>
            </a:ext>
          </a:extLst>
        </p:cNvPr>
        <p:cNvGrpSpPr/>
        <p:nvPr/>
      </p:nvGrpSpPr>
      <p:grpSpPr>
        <a:xfrm>
          <a:off x="0" y="0"/>
          <a:ext cx="0" cy="0"/>
          <a:chOff x="0" y="0"/>
          <a:chExt cx="0" cy="0"/>
        </a:xfrm>
      </p:grpSpPr>
      <p:sp>
        <p:nvSpPr>
          <p:cNvPr id="116" name="Google Shape;116;g1652077f308_0_100:notes">
            <a:extLst>
              <a:ext uri="{FF2B5EF4-FFF2-40B4-BE49-F238E27FC236}">
                <a16:creationId xmlns:a16="http://schemas.microsoft.com/office/drawing/2014/main" id="{41D4C0F4-AD1B-E9A1-5E62-DA6DCB571E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52077f308_0_100:notes">
            <a:extLst>
              <a:ext uri="{FF2B5EF4-FFF2-40B4-BE49-F238E27FC236}">
                <a16:creationId xmlns:a16="http://schemas.microsoft.com/office/drawing/2014/main" id="{B39BDE6B-2E66-D28D-3482-AB7DB8811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6907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652077f30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652077f30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514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20541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5" name="Picture 4"/>
          <p:cNvPicPr>
            <a:picLocks noChangeAspect="1"/>
          </p:cNvPicPr>
          <p:nvPr userDrawn="1"/>
        </p:nvPicPr>
        <p:blipFill rotWithShape="1">
          <a:blip r:embed="rId13">
            <a:extLst>
              <a:ext uri="{28A0092B-C50C-407E-A947-70E740481C1C}">
                <a14:useLocalDpi xmlns:a14="http://schemas.microsoft.com/office/drawing/2010/main" val="0"/>
              </a:ext>
            </a:extLst>
          </a:blip>
          <a:srcRect t="96296"/>
          <a:stretch/>
        </p:blipFill>
        <p:spPr>
          <a:xfrm>
            <a:off x="0" y="4957011"/>
            <a:ext cx="9144000" cy="194148"/>
          </a:xfrm>
          <a:prstGeom prst="rect">
            <a:avLst/>
          </a:prstGeom>
        </p:spPr>
      </p:pic>
      <p:pic>
        <p:nvPicPr>
          <p:cNvPr id="9" name="Picture 8"/>
          <p:cNvPicPr>
            <a:picLocks noChangeAspect="1"/>
          </p:cNvPicPr>
          <p:nvPr userDrawn="1"/>
        </p:nvPicPr>
        <p:blipFill rotWithShape="1">
          <a:blip r:embed="rId14">
            <a:extLst>
              <a:ext uri="{28A0092B-C50C-407E-A947-70E740481C1C}">
                <a14:useLocalDpi xmlns:a14="http://schemas.microsoft.com/office/drawing/2010/main" val="0"/>
              </a:ext>
            </a:extLst>
          </a:blip>
          <a:srcRect l="11111" t="9880" r="10219" b="13313"/>
          <a:stretch/>
        </p:blipFill>
        <p:spPr>
          <a:xfrm>
            <a:off x="7125810" y="79218"/>
            <a:ext cx="1887248" cy="791342"/>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7.jpg"/></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 name="TextBox 7"/>
          <p:cNvSpPr txBox="1"/>
          <p:nvPr/>
        </p:nvSpPr>
        <p:spPr>
          <a:xfrm>
            <a:off x="484867" y="472666"/>
            <a:ext cx="7026190" cy="1754326"/>
          </a:xfrm>
          <a:prstGeom prst="rect">
            <a:avLst/>
          </a:prstGeom>
          <a:noFill/>
        </p:spPr>
        <p:txBody>
          <a:bodyPr wrap="square" rtlCol="0">
            <a:spAutoFit/>
          </a:bodyPr>
          <a:lstStyle/>
          <a:p>
            <a:pPr algn="ctr" eaLnBrk="0" hangingPunct="0">
              <a:defRPr/>
            </a:pPr>
            <a:r>
              <a:rPr lang="en-US" sz="2400" b="1" dirty="0">
                <a:solidFill>
                  <a:srgbClr val="000099"/>
                </a:solidFill>
                <a:latin typeface="Times New Roman" panose="02020603050405020304" pitchFamily="18" charset="0"/>
                <a:cs typeface="Times New Roman" panose="02020603050405020304" pitchFamily="18" charset="0"/>
              </a:rPr>
              <a:t>Department of Computer Science and Engineering</a:t>
            </a:r>
          </a:p>
          <a:p>
            <a:pPr algn="ctr" eaLnBrk="0" hangingPunct="0">
              <a:defRPr/>
            </a:pPr>
            <a:r>
              <a:rPr lang="en-US" sz="2400" b="1" dirty="0">
                <a:solidFill>
                  <a:srgbClr val="FF7B21"/>
                </a:solidFill>
                <a:latin typeface="Times New Roman" panose="02020603050405020304" pitchFamily="18" charset="0"/>
                <a:cs typeface="Times New Roman" panose="02020603050405020304" pitchFamily="18" charset="0"/>
              </a:rPr>
              <a:t>Second Project Progress Seminar</a:t>
            </a:r>
          </a:p>
          <a:p>
            <a:pPr algn="ctr"/>
            <a:r>
              <a:rPr lang="en-US" sz="2000" b="1" dirty="0">
                <a:latin typeface="Times New Roman" panose="02020603050405020304" pitchFamily="18" charset="0"/>
                <a:cs typeface="Times New Roman" panose="02020603050405020304" pitchFamily="18" charset="0"/>
              </a:rPr>
              <a:t>Session: 2025-2026 (Winter 2025)</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solidFill>
                  <a:srgbClr val="C00000"/>
                </a:solidFill>
                <a:latin typeface="Times New Roman" panose="02020603050405020304" pitchFamily="18" charset="0"/>
                <a:cs typeface="Times New Roman" panose="02020603050405020304" pitchFamily="18" charset="0"/>
              </a:rPr>
              <a:t>Group Number: - </a:t>
            </a:r>
            <a:r>
              <a:rPr lang="en-US" sz="2000" b="1" dirty="0">
                <a:solidFill>
                  <a:schemeClr val="tx1"/>
                </a:solidFill>
                <a:latin typeface="Times New Roman" panose="02020603050405020304" pitchFamily="18" charset="0"/>
                <a:cs typeface="Times New Roman" panose="02020603050405020304" pitchFamily="18" charset="0"/>
              </a:rPr>
              <a:t>CSE_C_06</a:t>
            </a:r>
            <a:endParaRPr lang="en-US" sz="2000" b="1" dirty="0">
              <a:solidFill>
                <a:srgbClr val="C0000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078574" y="2371977"/>
            <a:ext cx="6432483" cy="677108"/>
          </a:xfrm>
          <a:prstGeom prst="rect">
            <a:avLst/>
          </a:prstGeom>
          <a:noFill/>
        </p:spPr>
        <p:txBody>
          <a:bodyPr wrap="square" rtlCol="0">
            <a:spAutoFit/>
          </a:bodyPr>
          <a:lstStyle/>
          <a:p>
            <a:pPr eaLnBrk="0" hangingPunct="0">
              <a:defRPr/>
            </a:pPr>
            <a:r>
              <a:rPr lang="en-US" sz="2000" b="1" dirty="0">
                <a:solidFill>
                  <a:srgbClr val="940000"/>
                </a:solidFill>
                <a:latin typeface="Times New Roman" panose="02020603050405020304" pitchFamily="18" charset="0"/>
                <a:cs typeface="Times New Roman" panose="02020603050405020304" pitchFamily="18" charset="0"/>
              </a:rPr>
              <a:t>Title of the Project:-</a:t>
            </a:r>
            <a:r>
              <a:rPr lang="en-US" sz="2000" b="1" dirty="0" err="1">
                <a:solidFill>
                  <a:schemeClr val="tx1"/>
                </a:solidFill>
                <a:latin typeface="Times New Roman" panose="02020603050405020304" pitchFamily="18" charset="0"/>
                <a:cs typeface="Times New Roman" panose="02020603050405020304" pitchFamily="18" charset="0"/>
              </a:rPr>
              <a:t>FlowCall</a:t>
            </a:r>
            <a:r>
              <a:rPr lang="en-US" sz="2000" b="1" dirty="0">
                <a:solidFill>
                  <a:schemeClr val="tx1"/>
                </a:solidFill>
                <a:latin typeface="Times New Roman" panose="02020603050405020304" pitchFamily="18" charset="0"/>
                <a:cs typeface="Times New Roman" panose="02020603050405020304" pitchFamily="18" charset="0"/>
              </a:rPr>
              <a:t> : AI That Talks Business</a:t>
            </a:r>
            <a:endParaRPr lang="en-US" sz="2000" b="1" dirty="0">
              <a:solidFill>
                <a:srgbClr val="940000"/>
              </a:solidFill>
              <a:latin typeface="Times New Roman" panose="02020603050405020304" pitchFamily="18" charset="0"/>
              <a:cs typeface="Times New Roman" panose="02020603050405020304" pitchFamily="18" charset="0"/>
            </a:endParaRPr>
          </a:p>
          <a:p>
            <a:endParaRPr lang="en-US" sz="1800" b="1" dirty="0">
              <a:solidFill>
                <a:srgbClr val="940000"/>
              </a:solidFill>
              <a:latin typeface="Times New Roman" panose="02020603050405020304" pitchFamily="18" charset="0"/>
              <a:cs typeface="Times New Roman" panose="02020603050405020304" pitchFamily="18" charset="0"/>
            </a:endParaRPr>
          </a:p>
        </p:txBody>
      </p:sp>
      <p:sp>
        <p:nvSpPr>
          <p:cNvPr id="11" name="Subtitle 2"/>
          <p:cNvSpPr txBox="1">
            <a:spLocks/>
          </p:cNvSpPr>
          <p:nvPr/>
        </p:nvSpPr>
        <p:spPr>
          <a:xfrm>
            <a:off x="484867" y="3062039"/>
            <a:ext cx="3694185" cy="165155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400" b="1" dirty="0">
                <a:solidFill>
                  <a:srgbClr val="000000"/>
                </a:solidFill>
                <a:latin typeface="Times New Roman" panose="02020603050405020304" pitchFamily="18" charset="0"/>
                <a:cs typeface="Times New Roman" panose="02020603050405020304" pitchFamily="18" charset="0"/>
              </a:rPr>
              <a:t>Presented By:</a:t>
            </a:r>
          </a:p>
          <a:p>
            <a:pPr lvl="1" algn="l"/>
            <a:endParaRPr lang="en-US" sz="1400" b="1" dirty="0">
              <a:solidFill>
                <a:srgbClr val="000000"/>
              </a:solidFill>
              <a:latin typeface="Times New Roman" panose="02020603050405020304" pitchFamily="18" charset="0"/>
              <a:cs typeface="Times New Roman" panose="02020603050405020304" pitchFamily="18" charset="0"/>
            </a:endParaRPr>
          </a:p>
          <a:p>
            <a:pPr marL="800100" lvl="1" indent="-342900" algn="l">
              <a:buAutoNum type="arabicPeriod"/>
            </a:pPr>
            <a:r>
              <a:rPr lang="en-US" sz="1400" b="1" dirty="0">
                <a:solidFill>
                  <a:srgbClr val="000000"/>
                </a:solidFill>
                <a:latin typeface="Times New Roman" panose="02020603050405020304" pitchFamily="18" charset="0"/>
                <a:cs typeface="Times New Roman" panose="02020603050405020304" pitchFamily="18" charset="0"/>
              </a:rPr>
              <a:t>Rasika Borade (B_18)</a:t>
            </a:r>
          </a:p>
          <a:p>
            <a:pPr marL="800100" lvl="1" indent="-342900" algn="l">
              <a:buAutoNum type="arabicPeriod"/>
            </a:pPr>
            <a:r>
              <a:rPr lang="en-US" sz="1400" b="1" dirty="0">
                <a:solidFill>
                  <a:srgbClr val="000000"/>
                </a:solidFill>
                <a:latin typeface="Times New Roman" panose="02020603050405020304" pitchFamily="18" charset="0"/>
                <a:cs typeface="Times New Roman" panose="02020603050405020304" pitchFamily="18" charset="0"/>
              </a:rPr>
              <a:t>Tanishka Borade (C_14)</a:t>
            </a:r>
          </a:p>
          <a:p>
            <a:pPr marL="800100" lvl="1" indent="-342900" algn="l">
              <a:buAutoNum type="arabicPeriod"/>
            </a:pPr>
            <a:r>
              <a:rPr lang="en-US" sz="1400" b="1" dirty="0">
                <a:solidFill>
                  <a:srgbClr val="000000"/>
                </a:solidFill>
                <a:latin typeface="Times New Roman" panose="02020603050405020304" pitchFamily="18" charset="0"/>
                <a:cs typeface="Times New Roman" panose="02020603050405020304" pitchFamily="18" charset="0"/>
              </a:rPr>
              <a:t>Punyaa Dixit (C_05)</a:t>
            </a:r>
          </a:p>
          <a:p>
            <a:pPr marL="800100" lvl="1" indent="-342900" algn="l">
              <a:buAutoNum type="arabicPeriod"/>
            </a:pPr>
            <a:r>
              <a:rPr lang="en-US" sz="1400" b="1" dirty="0">
                <a:solidFill>
                  <a:srgbClr val="000000"/>
                </a:solidFill>
                <a:latin typeface="Times New Roman" panose="02020603050405020304" pitchFamily="18" charset="0"/>
                <a:cs typeface="Times New Roman" panose="02020603050405020304" pitchFamily="18" charset="0"/>
              </a:rPr>
              <a:t>Kanchan Sharma (B_13)</a:t>
            </a:r>
          </a:p>
          <a:p>
            <a:pPr marL="800100" lvl="1" indent="-342900" algn="l">
              <a:buAutoNum type="arabicPeriod"/>
            </a:pPr>
            <a:endParaRPr lang="en-US" sz="1400" b="1" dirty="0">
              <a:solidFill>
                <a:srgbClr val="000000"/>
              </a:solidFill>
              <a:latin typeface="Times New Roman" panose="02020603050405020304" pitchFamily="18" charset="0"/>
              <a:cs typeface="Times New Roman" panose="02020603050405020304" pitchFamily="18" charset="0"/>
            </a:endParaRPr>
          </a:p>
          <a:p>
            <a:pPr marL="800100" lvl="1" indent="-342900" algn="l">
              <a:buAutoNum type="arabicPeriod"/>
            </a:pPr>
            <a:endParaRPr lang="en-US" sz="1400" b="1" dirty="0">
              <a:solidFill>
                <a:srgbClr val="000000"/>
              </a:solidFill>
              <a:latin typeface="Times New Roman" panose="02020603050405020304" pitchFamily="18" charset="0"/>
              <a:cs typeface="Times New Roman" panose="02020603050405020304" pitchFamily="18" charset="0"/>
            </a:endParaRPr>
          </a:p>
          <a:p>
            <a:pPr lvl="1" algn="l"/>
            <a:endParaRPr lang="en-US" sz="1400" b="1" dirty="0">
              <a:solidFill>
                <a:srgbClr val="000000"/>
              </a:solidFill>
              <a:latin typeface="Times New Roman" panose="02020603050405020304" pitchFamily="18" charset="0"/>
              <a:cs typeface="Times New Roman" panose="02020603050405020304" pitchFamily="18" charset="0"/>
            </a:endParaRPr>
          </a:p>
          <a:p>
            <a:endParaRPr lang="en-US" sz="1400" b="1" dirty="0">
              <a:solidFill>
                <a:srgbClr val="000000"/>
              </a:solidFill>
              <a:latin typeface="Times New Roman" panose="02020603050405020304" pitchFamily="18" charset="0"/>
              <a:cs typeface="Times New Roman" panose="02020603050405020304" pitchFamily="18" charset="0"/>
            </a:endParaRPr>
          </a:p>
        </p:txBody>
      </p:sp>
      <p:sp>
        <p:nvSpPr>
          <p:cNvPr id="12" name="Subtitle 2"/>
          <p:cNvSpPr txBox="1">
            <a:spLocks/>
          </p:cNvSpPr>
          <p:nvPr/>
        </p:nvSpPr>
        <p:spPr>
          <a:xfrm>
            <a:off x="5237048" y="3241747"/>
            <a:ext cx="2455099" cy="1292134"/>
          </a:xfrm>
          <a:prstGeom prst="rect">
            <a:avLst/>
          </a:prstGeom>
        </p:spPr>
        <p:txBody>
          <a:bodyPr vert="horz" lIns="91440" tIns="45720" rIns="91440" bIns="45720" rtlCol="0">
            <a:normAutofit fontScale="8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1800" b="1" dirty="0">
              <a:solidFill>
                <a:srgbClr val="000000"/>
              </a:solidFill>
              <a:latin typeface="Times New Roman" panose="02020603050405020304" pitchFamily="18" charset="0"/>
              <a:cs typeface="Times New Roman" panose="02020603050405020304" pitchFamily="18" charset="0"/>
            </a:endParaRPr>
          </a:p>
          <a:p>
            <a:r>
              <a:rPr lang="en-US" sz="1800" b="1" dirty="0">
                <a:solidFill>
                  <a:srgbClr val="000000"/>
                </a:solidFill>
                <a:latin typeface="Times New Roman" panose="02020603050405020304" pitchFamily="18" charset="0"/>
                <a:cs typeface="Times New Roman" panose="02020603050405020304" pitchFamily="18" charset="0"/>
              </a:rPr>
              <a:t>Guide</a:t>
            </a:r>
          </a:p>
          <a:p>
            <a:r>
              <a:rPr lang="en-US" sz="1800" dirty="0">
                <a:solidFill>
                  <a:srgbClr val="000000"/>
                </a:solidFill>
                <a:latin typeface="Times New Roman" panose="02020603050405020304" pitchFamily="18" charset="0"/>
                <a:cs typeface="Times New Roman" panose="02020603050405020304" pitchFamily="18" charset="0"/>
              </a:rPr>
              <a:t>Prof. Sonali Bhardwaj</a:t>
            </a:r>
          </a:p>
          <a:p>
            <a:r>
              <a:rPr lang="en-US" sz="1800" dirty="0">
                <a:solidFill>
                  <a:srgbClr val="000000"/>
                </a:solidFill>
                <a:latin typeface="Times New Roman" panose="02020603050405020304" pitchFamily="18" charset="0"/>
                <a:cs typeface="Times New Roman" panose="02020603050405020304" pitchFamily="18" charset="0"/>
              </a:rPr>
              <a:t>Assistant Professor</a:t>
            </a:r>
          </a:p>
          <a:p>
            <a:r>
              <a:rPr lang="en-US" sz="1800" dirty="0">
                <a:solidFill>
                  <a:srgbClr val="000000"/>
                </a:solidFill>
                <a:latin typeface="Times New Roman" panose="02020603050405020304" pitchFamily="18" charset="0"/>
                <a:cs typeface="Times New Roman" panose="02020603050405020304" pitchFamily="18" charset="0"/>
              </a:rPr>
              <a:t>GHRCE , Nagpur </a:t>
            </a:r>
          </a:p>
          <a:p>
            <a:endParaRPr lang="en-US" sz="2400" b="1" dirty="0">
              <a:solidFill>
                <a:srgbClr val="000000"/>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6951216" y="1508129"/>
            <a:ext cx="1707254" cy="307777"/>
          </a:xfrm>
          <a:prstGeom prst="rect">
            <a:avLst/>
          </a:prstGeom>
        </p:spPr>
        <p:txBody>
          <a:bodyPr wrap="square">
            <a:spAutoFit/>
          </a:bodyPr>
          <a:lstStyle/>
          <a:p>
            <a:pPr algn="ctr"/>
            <a:r>
              <a:rPr lang="en-US" sz="1400" b="1" dirty="0">
                <a:latin typeface="Times New Roman" panose="02020603050405020304" pitchFamily="18" charset="0"/>
                <a:cs typeface="Times New Roman" panose="02020603050405020304" pitchFamily="18" charset="0"/>
              </a:rPr>
              <a:t>Date : 30-sept-2025 </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7"/>
          <p:cNvSpPr txBox="1">
            <a:spLocks noGrp="1"/>
          </p:cNvSpPr>
          <p:nvPr>
            <p:ph type="title" idx="4294967295"/>
          </p:nvPr>
        </p:nvSpPr>
        <p:spPr>
          <a:xfrm>
            <a:off x="1858038" y="144500"/>
            <a:ext cx="5467436" cy="761700"/>
          </a:xfrm>
          <a:prstGeom prst="rect">
            <a:avLst/>
          </a:prstGeom>
        </p:spPr>
        <p:txBody>
          <a:bodyPr spcFirstLastPara="1" wrap="square" lIns="91425" tIns="91425" rIns="91425" bIns="91425" anchor="ctr" anchorCtr="0">
            <a:normAutofit/>
          </a:bodyPr>
          <a:lstStyle/>
          <a:p>
            <a:pPr algn="ctr" eaLnBrk="0" hangingPunct="0">
              <a:defRPr/>
            </a:pPr>
            <a:r>
              <a:rPr lang="en-US" b="1" dirty="0">
                <a:latin typeface="Times New Roman" panose="02020603050405020304" pitchFamily="18" charset="0"/>
                <a:cs typeface="Times New Roman" panose="02020603050405020304" pitchFamily="18" charset="0"/>
              </a:rPr>
              <a:t>Project Description</a:t>
            </a:r>
          </a:p>
        </p:txBody>
      </p:sp>
      <p:sp>
        <p:nvSpPr>
          <p:cNvPr id="10" name="Content Placeholder 2"/>
          <p:cNvSpPr txBox="1">
            <a:spLocks/>
          </p:cNvSpPr>
          <p:nvPr/>
        </p:nvSpPr>
        <p:spPr>
          <a:xfrm>
            <a:off x="186246" y="1113567"/>
            <a:ext cx="8811019" cy="475965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2700" marR="5080">
              <a:lnSpc>
                <a:spcPct val="110000"/>
              </a:lnSpc>
              <a:spcBef>
                <a:spcPts val="275"/>
              </a:spcBef>
            </a:pPr>
            <a:r>
              <a:rPr lang="en-US" sz="1600" b="1" spc="-65" dirty="0">
                <a:latin typeface="Times New Roman"/>
                <a:cs typeface="Times New Roman"/>
              </a:rPr>
              <a:t>Objective</a:t>
            </a:r>
            <a:r>
              <a:rPr lang="en-US" sz="1600" spc="-65" dirty="0">
                <a:latin typeface="Times New Roman"/>
                <a:cs typeface="Times New Roman"/>
              </a:rPr>
              <a:t>:</a:t>
            </a:r>
            <a:r>
              <a:rPr lang="en-US" sz="1600" spc="10" dirty="0">
                <a:latin typeface="Times New Roman"/>
                <a:cs typeface="Times New Roman"/>
              </a:rPr>
              <a:t> </a:t>
            </a:r>
            <a:r>
              <a:rPr lang="en-US" sz="1600" dirty="0">
                <a:latin typeface="Times New Roman" panose="02020603050405020304" pitchFamily="18" charset="0"/>
                <a:cs typeface="Times New Roman" panose="02020603050405020304" pitchFamily="18" charset="0"/>
              </a:rPr>
              <a:t>The project aims to build </a:t>
            </a:r>
            <a:r>
              <a:rPr lang="en-US" sz="1600" b="1" dirty="0" err="1">
                <a:latin typeface="Times New Roman" panose="02020603050405020304" pitchFamily="18" charset="0"/>
                <a:cs typeface="Times New Roman" panose="02020603050405020304" pitchFamily="18" charset="0"/>
              </a:rPr>
              <a:t>FlowCall</a:t>
            </a:r>
            <a:r>
              <a:rPr lang="en-US" sz="1600" dirty="0">
                <a:latin typeface="Times New Roman" panose="02020603050405020304" pitchFamily="18" charset="0"/>
                <a:cs typeface="Times New Roman" panose="02020603050405020304" pitchFamily="18" charset="0"/>
              </a:rPr>
              <a:t>, a SaaS platform that creates customized AI-powered voice assistants tailored to different industries, ensuring faster deployment, seamless integration, and cost-effective automation of customer support</a:t>
            </a:r>
          </a:p>
          <a:p>
            <a:pPr marL="12700" marR="5080">
              <a:lnSpc>
                <a:spcPct val="110000"/>
              </a:lnSpc>
              <a:spcBef>
                <a:spcPts val="275"/>
              </a:spcBef>
            </a:pPr>
            <a:endParaRPr lang="en-US" sz="1600" dirty="0">
              <a:latin typeface="Times New Roman"/>
              <a:cs typeface="Times New Roman"/>
            </a:endParaRPr>
          </a:p>
          <a:p>
            <a:pPr marL="12700" marR="490220">
              <a:lnSpc>
                <a:spcPct val="110000"/>
              </a:lnSpc>
            </a:pPr>
            <a:r>
              <a:rPr lang="en-US" sz="1600" b="1" dirty="0">
                <a:latin typeface="Times New Roman"/>
                <a:cs typeface="Times New Roman"/>
              </a:rPr>
              <a:t>Scope</a:t>
            </a:r>
            <a:r>
              <a:rPr lang="en-US" sz="1600" b="1" spc="20" dirty="0">
                <a:latin typeface="Times New Roman"/>
                <a:cs typeface="Times New Roman"/>
              </a:rPr>
              <a:t> </a:t>
            </a:r>
            <a:r>
              <a:rPr lang="en-US" sz="1600" b="1" spc="-190" dirty="0">
                <a:latin typeface="Times New Roman"/>
                <a:cs typeface="Times New Roman"/>
              </a:rPr>
              <a:t>:</a:t>
            </a:r>
            <a:r>
              <a:rPr lang="en-US" sz="1600" b="1" spc="30" dirty="0">
                <a:latin typeface="Times New Roman"/>
                <a:cs typeface="Times New Roman"/>
              </a:rPr>
              <a:t> </a:t>
            </a:r>
            <a:r>
              <a:rPr lang="en-US" sz="1600" dirty="0">
                <a:latin typeface="Times New Roman" panose="02020603050405020304" pitchFamily="18" charset="0"/>
                <a:cs typeface="Times New Roman" panose="02020603050405020304" pitchFamily="18" charset="0"/>
              </a:rPr>
              <a:t>The platform is designed for multiple industries like hospitality, education, healthcare, retail, and professional services, with the ability to integrate booking, CRM, and payment systems, deploy within days, and scale to handle hundreds of simultaneous conversations</a:t>
            </a:r>
          </a:p>
          <a:p>
            <a:pPr marL="12700" marR="490220">
              <a:lnSpc>
                <a:spcPct val="110000"/>
              </a:lnSpc>
            </a:pPr>
            <a:endParaRPr lang="en-US" sz="1600" b="1" spc="-25" dirty="0">
              <a:latin typeface="Times New Roman"/>
              <a:cs typeface="Times New Roman"/>
            </a:endParaRPr>
          </a:p>
          <a:p>
            <a:pPr marL="12700" marR="490220">
              <a:lnSpc>
                <a:spcPct val="110000"/>
              </a:lnSpc>
            </a:pPr>
            <a:r>
              <a:rPr lang="en-US" sz="1600" b="1" spc="-25" dirty="0">
                <a:latin typeface="Times New Roman"/>
                <a:cs typeface="Times New Roman"/>
              </a:rPr>
              <a:t>Benefits</a:t>
            </a:r>
            <a:r>
              <a:rPr lang="en-US" sz="1600" spc="-25" dirty="0">
                <a:latin typeface="Times New Roman"/>
                <a:cs typeface="Times New Roman"/>
              </a:rPr>
              <a:t>:</a:t>
            </a:r>
            <a:r>
              <a:rPr lang="en-US" sz="1600" spc="70" dirty="0">
                <a:latin typeface="Times New Roman"/>
                <a:cs typeface="Times New Roman"/>
              </a:rPr>
              <a:t> </a:t>
            </a:r>
            <a:r>
              <a:rPr lang="en-US" sz="1600" dirty="0" err="1">
                <a:latin typeface="Times New Roman" panose="02020603050405020304" pitchFamily="18" charset="0"/>
                <a:cs typeface="Times New Roman" panose="02020603050405020304" pitchFamily="18" charset="0"/>
              </a:rPr>
              <a:t>FlowCall</a:t>
            </a:r>
            <a:r>
              <a:rPr lang="en-US" sz="1600" dirty="0">
                <a:latin typeface="Times New Roman" panose="02020603050405020304" pitchFamily="18" charset="0"/>
                <a:cs typeface="Times New Roman" panose="02020603050405020304" pitchFamily="18" charset="0"/>
              </a:rPr>
              <a:t> delivers </a:t>
            </a:r>
            <a:r>
              <a:rPr lang="en-US" sz="1600" b="1" dirty="0">
                <a:latin typeface="Times New Roman" panose="02020603050405020304" pitchFamily="18" charset="0"/>
                <a:cs typeface="Times New Roman" panose="02020603050405020304" pitchFamily="18" charset="0"/>
              </a:rPr>
              <a:t>cost savings up to 76%</a:t>
            </a:r>
            <a:r>
              <a:rPr lang="en-US" sz="1600" dirty="0">
                <a:latin typeface="Times New Roman" panose="02020603050405020304" pitchFamily="18" charset="0"/>
                <a:cs typeface="Times New Roman" panose="02020603050405020304" pitchFamily="18" charset="0"/>
              </a:rPr>
              <a:t>, a break-even in just 2–3 months, 24/7 availability, faster query resolution, and improved customer satisfaction, making it an efficient and economically viable solution for businesses of all sizes</a:t>
            </a:r>
            <a:endParaRPr lang="en-IN" sz="1600" dirty="0">
              <a:latin typeface="Times New Roman" panose="02020603050405020304" pitchFamily="18" charset="0"/>
              <a:cs typeface="Times New Roman" panose="02020603050405020304" pitchFamily="18" charset="0"/>
            </a:endParaRPr>
          </a:p>
          <a:p>
            <a:endParaRPr lang="en-GB" sz="1600" dirty="0">
              <a:latin typeface="Times New Roman" panose="02020603050405020304" pitchFamily="18" charset="0"/>
              <a:cs typeface="Times New Roman" panose="02020603050405020304" pitchFamily="18" charset="0"/>
            </a:endParaRPr>
          </a:p>
          <a:p>
            <a:endParaRPr lang="en-GB" sz="16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4735-4F38-F8B6-1619-DBD20351B62B}"/>
              </a:ext>
            </a:extLst>
          </p:cNvPr>
          <p:cNvSpPr>
            <a:spLocks noGrp="1"/>
          </p:cNvSpPr>
          <p:nvPr>
            <p:ph type="title"/>
          </p:nvPr>
        </p:nvSpPr>
        <p:spPr>
          <a:xfrm>
            <a:off x="253015" y="247949"/>
            <a:ext cx="8520600" cy="572700"/>
          </a:xfrm>
        </p:spPr>
        <p:txBody>
          <a:bodyPr/>
          <a:lstStyle/>
          <a:p>
            <a:pPr algn="ctr"/>
            <a:r>
              <a:rPr lang="en-IN" dirty="0"/>
              <a:t>Research Gap</a:t>
            </a:r>
          </a:p>
        </p:txBody>
      </p:sp>
      <p:sp>
        <p:nvSpPr>
          <p:cNvPr id="4" name="Rectangle 1">
            <a:extLst>
              <a:ext uri="{FF2B5EF4-FFF2-40B4-BE49-F238E27FC236}">
                <a16:creationId xmlns:a16="http://schemas.microsoft.com/office/drawing/2014/main" id="{468BBC90-3BA3-1448-8153-7C949FA9D62C}"/>
              </a:ext>
            </a:extLst>
          </p:cNvPr>
          <p:cNvSpPr>
            <a:spLocks noGrp="1" noChangeArrowheads="1"/>
          </p:cNvSpPr>
          <p:nvPr>
            <p:ph type="body" idx="1"/>
          </p:nvPr>
        </p:nvSpPr>
        <p:spPr bwMode="auto">
          <a:xfrm>
            <a:off x="504025" y="925233"/>
            <a:ext cx="813594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Most AI voice assistants available today are </a:t>
            </a:r>
            <a:r>
              <a:rPr kumimoji="0" lang="en-US" altLang="en-US" b="1" i="0" u="none" strike="noStrike" cap="none" normalizeH="0" baseline="0" dirty="0">
                <a:ln>
                  <a:noFill/>
                </a:ln>
                <a:solidFill>
                  <a:schemeClr val="tx1"/>
                </a:solidFill>
                <a:effectLst/>
                <a:latin typeface="Arial" panose="020B0604020202020204" pitchFamily="34" charset="0"/>
              </a:rPr>
              <a:t>generic</a:t>
            </a:r>
            <a:r>
              <a:rPr kumimoji="0" lang="en-US" altLang="en-US" b="0" i="0" u="none" strike="noStrike" cap="none" normalizeH="0" baseline="0" dirty="0">
                <a:ln>
                  <a:noFill/>
                </a:ln>
                <a:solidFill>
                  <a:schemeClr val="tx1"/>
                </a:solidFill>
                <a:effectLst/>
                <a:latin typeface="Arial" panose="020B0604020202020204" pitchFamily="34" charset="0"/>
              </a:rPr>
              <a:t> and not fully adapted to the needs of different industries.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They </a:t>
            </a:r>
            <a:r>
              <a:rPr kumimoji="0" lang="en-US" altLang="en-US" b="1" i="0" u="none" strike="noStrike" cap="none" normalizeH="0" baseline="0" dirty="0">
                <a:ln>
                  <a:noFill/>
                </a:ln>
                <a:solidFill>
                  <a:schemeClr val="tx1"/>
                </a:solidFill>
                <a:effectLst/>
                <a:latin typeface="Arial" panose="020B0604020202020204" pitchFamily="34" charset="0"/>
              </a:rPr>
              <a:t>do not support all languages</a:t>
            </a:r>
            <a:r>
              <a:rPr kumimoji="0" lang="en-US" altLang="en-US" b="0" i="0" u="none" strike="noStrike" cap="none" normalizeH="0" baseline="0" dirty="0">
                <a:ln>
                  <a:noFill/>
                </a:ln>
                <a:solidFill>
                  <a:schemeClr val="tx1"/>
                </a:solidFill>
                <a:effectLst/>
                <a:latin typeface="Arial" panose="020B0604020202020204" pitchFamily="34" charset="0"/>
              </a:rPr>
              <a:t>, which reduces their usability in global or multilingual environments.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Even with automation, it still takes </a:t>
            </a:r>
            <a:r>
              <a:rPr kumimoji="0" lang="en-US" altLang="en-US" b="1" i="0" u="none" strike="noStrike" cap="none" normalizeH="0" baseline="0" dirty="0">
                <a:ln>
                  <a:noFill/>
                </a:ln>
                <a:solidFill>
                  <a:schemeClr val="tx1"/>
                </a:solidFill>
                <a:effectLst/>
                <a:latin typeface="Arial" panose="020B0604020202020204" pitchFamily="34" charset="0"/>
              </a:rPr>
              <a:t>about a week</a:t>
            </a:r>
            <a:r>
              <a:rPr kumimoji="0" lang="en-US" altLang="en-US" b="0" i="0" u="none" strike="noStrike" cap="none" normalizeH="0" baseline="0" dirty="0">
                <a:ln>
                  <a:noFill/>
                </a:ln>
                <a:solidFill>
                  <a:schemeClr val="tx1"/>
                </a:solidFill>
                <a:effectLst/>
                <a:latin typeface="Arial" panose="020B0604020202020204" pitchFamily="34" charset="0"/>
              </a:rPr>
              <a:t> to set up and deliver the final solution to customers.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There is a lack of platforms that can provide </a:t>
            </a:r>
            <a:r>
              <a:rPr kumimoji="0" lang="en-US" altLang="en-US" b="1" i="0" u="none" strike="noStrike" cap="none" normalizeH="0" baseline="0" dirty="0">
                <a:ln>
                  <a:noFill/>
                </a:ln>
                <a:solidFill>
                  <a:schemeClr val="tx1"/>
                </a:solidFill>
                <a:effectLst/>
                <a:latin typeface="Arial" panose="020B0604020202020204" pitchFamily="34" charset="0"/>
              </a:rPr>
              <a:t>instant deployment</a:t>
            </a:r>
            <a:r>
              <a:rPr kumimoji="0" lang="en-US" altLang="en-US" b="0" i="0" u="none" strike="noStrike" cap="none" normalizeH="0" baseline="0" dirty="0">
                <a:ln>
                  <a:noFill/>
                </a:ln>
                <a:solidFill>
                  <a:schemeClr val="tx1"/>
                </a:solidFill>
                <a:effectLst/>
                <a:latin typeface="Arial" panose="020B0604020202020204" pitchFamily="34" charset="0"/>
              </a:rPr>
              <a:t> instead of long setup times.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Existing research focuses mainly on </a:t>
            </a:r>
            <a:r>
              <a:rPr kumimoji="0" lang="en-US" altLang="en-US" b="1" i="0" u="none" strike="noStrike" cap="none" normalizeH="0" baseline="0" dirty="0">
                <a:ln>
                  <a:noFill/>
                </a:ln>
                <a:solidFill>
                  <a:schemeClr val="tx1"/>
                </a:solidFill>
                <a:effectLst/>
                <a:latin typeface="Arial" panose="020B0604020202020204" pitchFamily="34" charset="0"/>
              </a:rPr>
              <a:t>single-industry solutions</a:t>
            </a:r>
            <a:r>
              <a:rPr kumimoji="0" lang="en-US" altLang="en-US" b="0" i="0" u="none" strike="noStrike" cap="none" normalizeH="0" baseline="0" dirty="0">
                <a:ln>
                  <a:noFill/>
                </a:ln>
                <a:solidFill>
                  <a:schemeClr val="tx1"/>
                </a:solidFill>
                <a:effectLst/>
                <a:latin typeface="Arial" panose="020B0604020202020204" pitchFamily="34" charset="0"/>
              </a:rPr>
              <a:t>, not multi-industry platforms like healthcare, hospitality, and education together.</a:t>
            </a:r>
          </a:p>
        </p:txBody>
      </p:sp>
    </p:spTree>
    <p:extLst>
      <p:ext uri="{BB962C8B-B14F-4D97-AF65-F5344CB8AC3E}">
        <p14:creationId xmlns:p14="http://schemas.microsoft.com/office/powerpoint/2010/main" val="1682960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idx="4294967295"/>
          </p:nvPr>
        </p:nvSpPr>
        <p:spPr>
          <a:xfrm>
            <a:off x="2466679" y="372288"/>
            <a:ext cx="3315600" cy="761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b="1" dirty="0">
                <a:latin typeface="Times New Roman" panose="02020603050405020304" pitchFamily="18" charset="0"/>
                <a:ea typeface="Montserrat"/>
                <a:cs typeface="Times New Roman" panose="02020603050405020304" pitchFamily="18" charset="0"/>
                <a:sym typeface="Montserrat"/>
              </a:rPr>
              <a:t>Introduction</a:t>
            </a:r>
            <a:endParaRPr b="1" dirty="0">
              <a:latin typeface="Times New Roman" panose="02020603050405020304" pitchFamily="18" charset="0"/>
              <a:ea typeface="Montserrat"/>
              <a:cs typeface="Times New Roman" panose="02020603050405020304" pitchFamily="18" charset="0"/>
              <a:sym typeface="Montserrat"/>
            </a:endParaRPr>
          </a:p>
        </p:txBody>
      </p:sp>
      <p:sp>
        <p:nvSpPr>
          <p:cNvPr id="2" name="Text Placeholder 1">
            <a:extLst>
              <a:ext uri="{FF2B5EF4-FFF2-40B4-BE49-F238E27FC236}">
                <a16:creationId xmlns:a16="http://schemas.microsoft.com/office/drawing/2014/main" id="{D6219B1B-D516-25AA-9175-46007D60AAB8}"/>
              </a:ext>
            </a:extLst>
          </p:cNvPr>
          <p:cNvSpPr>
            <a:spLocks noGrp="1" noChangeArrowheads="1"/>
          </p:cNvSpPr>
          <p:nvPr>
            <p:ph type="body" idx="4294967295"/>
          </p:nvPr>
        </p:nvSpPr>
        <p:spPr bwMode="auto">
          <a:xfrm>
            <a:off x="536449" y="1424189"/>
            <a:ext cx="807415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today’s fast-paced academic environment, students often face delays in getting their queries resolved.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Our project introduces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voice assistant and chatbot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provide instant, human-like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integrates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Make.com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automation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Vapi.ai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voice calling, ensuring smooth query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offers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 assistance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staff workload, and improves student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Future-ready with features like</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emotion recognition, and voice verification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7"/>
          <p:cNvSpPr txBox="1">
            <a:spLocks noGrp="1"/>
          </p:cNvSpPr>
          <p:nvPr>
            <p:ph type="title" idx="4294967295"/>
          </p:nvPr>
        </p:nvSpPr>
        <p:spPr>
          <a:xfrm>
            <a:off x="1248438" y="263446"/>
            <a:ext cx="5467436" cy="761700"/>
          </a:xfrm>
          <a:prstGeom prst="rect">
            <a:avLst/>
          </a:prstGeom>
        </p:spPr>
        <p:txBody>
          <a:bodyPr spcFirstLastPara="1" wrap="square" lIns="91425" tIns="91425" rIns="91425" bIns="91425" anchor="ctr" anchorCtr="0">
            <a:normAutofit/>
          </a:bodyPr>
          <a:lstStyle/>
          <a:p>
            <a:pPr algn="ctr" eaLnBrk="0" hangingPunct="0">
              <a:defRPr/>
            </a:pPr>
            <a:r>
              <a:rPr lang="en-US" b="1" dirty="0">
                <a:latin typeface="Times New Roman" panose="02020603050405020304" pitchFamily="18" charset="0"/>
                <a:cs typeface="Times New Roman" panose="02020603050405020304" pitchFamily="18" charset="0"/>
              </a:rPr>
              <a:t>Research Gap</a:t>
            </a:r>
          </a:p>
        </p:txBody>
      </p:sp>
      <p:sp>
        <p:nvSpPr>
          <p:cNvPr id="10" name="Content Placeholder 2"/>
          <p:cNvSpPr txBox="1">
            <a:spLocks/>
          </p:cNvSpPr>
          <p:nvPr/>
        </p:nvSpPr>
        <p:spPr>
          <a:xfrm>
            <a:off x="150100" y="824007"/>
            <a:ext cx="8843749" cy="475965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latin typeface="Times New Roman" panose="02020603050405020304" pitchFamily="18" charset="0"/>
                <a:cs typeface="Times New Roman" panose="02020603050405020304" pitchFamily="18" charset="0"/>
              </a:rPr>
              <a:t>		</a:t>
            </a:r>
          </a:p>
          <a:p>
            <a:endParaRPr lang="en-IN" sz="1800" dirty="0">
              <a:latin typeface="Times New Roman" panose="02020603050405020304" pitchFamily="18" charset="0"/>
              <a:cs typeface="Times New Roman" panose="02020603050405020304" pitchFamily="18" charset="0"/>
            </a:endParaRPr>
          </a:p>
          <a:p>
            <a:endParaRPr lang="en-GB" sz="1800" dirty="0">
              <a:latin typeface="Times New Roman" panose="02020603050405020304" pitchFamily="18" charset="0"/>
              <a:cs typeface="Times New Roman" panose="02020603050405020304" pitchFamily="18" charset="0"/>
            </a:endParaRPr>
          </a:p>
          <a:p>
            <a:endParaRPr lang="en-GB"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8A7D35-115A-C888-4D78-47291C39ED21}"/>
              </a:ext>
            </a:extLst>
          </p:cNvPr>
          <p:cNvSpPr txBox="1"/>
          <p:nvPr/>
        </p:nvSpPr>
        <p:spPr>
          <a:xfrm>
            <a:off x="416591" y="1136191"/>
            <a:ext cx="8310766" cy="3293209"/>
          </a:xfrm>
          <a:prstGeom prst="rect">
            <a:avLst/>
          </a:prstGeom>
          <a:noFill/>
        </p:spPr>
        <p:txBody>
          <a:bodyPr wrap="square">
            <a:spAutoFit/>
          </a:bodyPr>
          <a:lstStyle/>
          <a:p>
            <a:pPr>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Limited human-like conversation</a:t>
            </a:r>
            <a:r>
              <a:rPr lang="en-US" sz="1600" b="0" i="0" dirty="0">
                <a:effectLst/>
                <a:latin typeface="Times New Roman" panose="02020603050405020304" pitchFamily="18" charset="0"/>
                <a:cs typeface="Times New Roman" panose="02020603050405020304" pitchFamily="18" charset="0"/>
              </a:rPr>
              <a:t>: Existing voice assistants struggle with context-aware, multi-turn interactions.</a:t>
            </a:r>
          </a:p>
          <a:p>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Poor integration with business tools</a:t>
            </a:r>
            <a:r>
              <a:rPr lang="en-US" sz="1600" b="0" i="0" dirty="0">
                <a:effectLst/>
                <a:latin typeface="Times New Roman" panose="02020603050405020304" pitchFamily="18" charset="0"/>
                <a:cs typeface="Times New Roman" panose="02020603050405020304" pitchFamily="18" charset="0"/>
              </a:rPr>
              <a:t>: Minimal connectivity with CRM, ticketing systems, and workflow platforms.</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Lack of multilingual and emotion recognition capabilities</a:t>
            </a:r>
            <a:r>
              <a:rPr lang="en-US" sz="1600" b="0" i="0" dirty="0">
                <a:effectLst/>
                <a:latin typeface="Times New Roman" panose="02020603050405020304" pitchFamily="18" charset="0"/>
                <a:cs typeface="Times New Roman" panose="02020603050405020304" pitchFamily="18" charset="0"/>
              </a:rPr>
              <a:t>: Inability to adapt to diverse languages and detect customer emotions.</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High cost and low scalability</a:t>
            </a:r>
            <a:r>
              <a:rPr lang="en-US" sz="1600" b="0" i="0" dirty="0">
                <a:effectLst/>
                <a:latin typeface="Times New Roman" panose="02020603050405020304" pitchFamily="18" charset="0"/>
                <a:cs typeface="Times New Roman" panose="02020603050405020304" pitchFamily="18" charset="0"/>
              </a:rPr>
              <a:t>: Traditional call center and IVR solutions remain expensive and resource-heavy.</a:t>
            </a: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b="1" i="0" dirty="0">
                <a:effectLst/>
                <a:latin typeface="Times New Roman" panose="02020603050405020304" pitchFamily="18" charset="0"/>
                <a:cs typeface="Times New Roman" panose="02020603050405020304" pitchFamily="18" charset="0"/>
              </a:rPr>
              <a:t>Low personalization</a:t>
            </a:r>
            <a:r>
              <a:rPr lang="en-US" sz="1600" b="0" i="0" dirty="0">
                <a:effectLst/>
                <a:latin typeface="Times New Roman" panose="02020603050405020304" pitchFamily="18" charset="0"/>
                <a:cs typeface="Times New Roman" panose="02020603050405020304" pitchFamily="18" charset="0"/>
              </a:rPr>
              <a:t>: Customer interactions often feel robotic and generic rather than tailored.</a:t>
            </a:r>
            <a:endParaRPr lang="en-US" sz="1600"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94D0340E-3B0F-B84E-03F2-A5BF244283F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2">
            <a:extLst>
              <a:ext uri="{FF2B5EF4-FFF2-40B4-BE49-F238E27FC236}">
                <a16:creationId xmlns:a16="http://schemas.microsoft.com/office/drawing/2014/main" id="{64D355A6-C11A-0E17-BC67-0282FCEED827}"/>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34133175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1"/>
          <p:cNvSpPr txBox="1">
            <a:spLocks noGrp="1"/>
          </p:cNvSpPr>
          <p:nvPr>
            <p:ph type="title" idx="4294967295"/>
          </p:nvPr>
        </p:nvSpPr>
        <p:spPr>
          <a:xfrm>
            <a:off x="3100663" y="86605"/>
            <a:ext cx="3315600" cy="761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b="1" dirty="0">
                <a:latin typeface="Times New Roman" panose="02020603050405020304" pitchFamily="18" charset="0"/>
                <a:ea typeface="Montserrat"/>
                <a:cs typeface="Times New Roman" panose="02020603050405020304" pitchFamily="18" charset="0"/>
                <a:sym typeface="Montserrat"/>
              </a:rPr>
              <a:t>Abstract </a:t>
            </a:r>
            <a:endParaRPr b="1" dirty="0">
              <a:latin typeface="Times New Roman" panose="02020603050405020304" pitchFamily="18" charset="0"/>
              <a:ea typeface="Montserrat"/>
              <a:cs typeface="Times New Roman" panose="02020603050405020304" pitchFamily="18" charset="0"/>
              <a:sym typeface="Montserrat"/>
            </a:endParaRPr>
          </a:p>
        </p:txBody>
      </p:sp>
      <p:sp>
        <p:nvSpPr>
          <p:cNvPr id="129" name="Google Shape;129;p21"/>
          <p:cNvSpPr txBox="1">
            <a:spLocks noGrp="1"/>
          </p:cNvSpPr>
          <p:nvPr>
            <p:ph type="body" idx="4294967295"/>
          </p:nvPr>
        </p:nvSpPr>
        <p:spPr>
          <a:xfrm>
            <a:off x="335280" y="889733"/>
            <a:ext cx="8473440" cy="3786312"/>
          </a:xfrm>
          <a:prstGeom prst="rect">
            <a:avLst/>
          </a:prstGeom>
        </p:spPr>
        <p:txBody>
          <a:bodyPr spcFirstLastPara="1" wrap="square" lIns="91425" tIns="91425" rIns="91425" bIns="91425" anchor="t" anchorCtr="0">
            <a:noAutofit/>
          </a:bodyPr>
          <a:lstStyle/>
          <a:p>
            <a:r>
              <a:rPr lang="en-US" sz="1500" dirty="0">
                <a:solidFill>
                  <a:schemeClr val="tx1"/>
                </a:solidFill>
                <a:latin typeface="Times New Roman" panose="02020603050405020304" pitchFamily="18" charset="0"/>
                <a:cs typeface="Times New Roman" panose="02020603050405020304" pitchFamily="18" charset="0"/>
              </a:rPr>
              <a:t>In today’s academic environment we often face delays in resolving our queries due to limited staff and traditional communication channels. To address this challenge, our project introduces an </a:t>
            </a:r>
            <a:r>
              <a:rPr lang="en-US" sz="1500" b="1" dirty="0">
                <a:solidFill>
                  <a:schemeClr val="tx1"/>
                </a:solidFill>
                <a:latin typeface="Times New Roman" panose="02020603050405020304" pitchFamily="18" charset="0"/>
                <a:cs typeface="Times New Roman" panose="02020603050405020304" pitchFamily="18" charset="0"/>
              </a:rPr>
              <a:t>AI-powered voice assistant and chatbot</a:t>
            </a:r>
            <a:r>
              <a:rPr lang="en-US" sz="1500" dirty="0">
                <a:solidFill>
                  <a:schemeClr val="tx1"/>
                </a:solidFill>
                <a:latin typeface="Times New Roman" panose="02020603050405020304" pitchFamily="18" charset="0"/>
                <a:cs typeface="Times New Roman" panose="02020603050405020304" pitchFamily="18" charset="0"/>
              </a:rPr>
              <a:t> capable of interacting in a natural, human-like manner, understanding our needs, and automating routine tasks. This ensures quick responses, round-the-clock availability, and reduced workload for support staff.</a:t>
            </a:r>
          </a:p>
          <a:p>
            <a:r>
              <a:rPr lang="en-US" sz="1500" dirty="0">
                <a:solidFill>
                  <a:schemeClr val="tx1"/>
                </a:solidFill>
                <a:latin typeface="Times New Roman" panose="02020603050405020304" pitchFamily="18" charset="0"/>
                <a:cs typeface="Times New Roman" panose="02020603050405020304" pitchFamily="18" charset="0"/>
              </a:rPr>
              <a:t>The system integrates </a:t>
            </a:r>
            <a:r>
              <a:rPr lang="en-US" sz="1500" b="1" dirty="0">
                <a:solidFill>
                  <a:schemeClr val="tx1"/>
                </a:solidFill>
                <a:latin typeface="Times New Roman" panose="02020603050405020304" pitchFamily="18" charset="0"/>
                <a:cs typeface="Times New Roman" panose="02020603050405020304" pitchFamily="18" charset="0"/>
              </a:rPr>
              <a:t>Vapi.ai</a:t>
            </a:r>
            <a:r>
              <a:rPr lang="en-US" sz="1500" dirty="0">
                <a:solidFill>
                  <a:schemeClr val="tx1"/>
                </a:solidFill>
                <a:latin typeface="Times New Roman" panose="02020603050405020304" pitchFamily="18" charset="0"/>
                <a:cs typeface="Times New Roman" panose="02020603050405020304" pitchFamily="18" charset="0"/>
              </a:rPr>
              <a:t> for real-time voice capture and speech recognition, </a:t>
            </a:r>
            <a:r>
              <a:rPr lang="en-US" sz="1500" b="1" dirty="0" err="1">
                <a:solidFill>
                  <a:schemeClr val="tx1"/>
                </a:solidFill>
                <a:latin typeface="Times New Roman" panose="02020603050405020304" pitchFamily="18" charset="0"/>
                <a:cs typeface="Times New Roman" panose="02020603050405020304" pitchFamily="18" charset="0"/>
              </a:rPr>
              <a:t>Ollama</a:t>
            </a:r>
            <a:r>
              <a:rPr lang="en-US" sz="1500" b="1" dirty="0">
                <a:solidFill>
                  <a:schemeClr val="tx1"/>
                </a:solidFill>
                <a:latin typeface="Times New Roman" panose="02020603050405020304" pitchFamily="18" charset="0"/>
                <a:cs typeface="Times New Roman" panose="02020603050405020304" pitchFamily="18" charset="0"/>
              </a:rPr>
              <a:t> LLM</a:t>
            </a:r>
            <a:r>
              <a:rPr lang="en-US" sz="1500" dirty="0">
                <a:solidFill>
                  <a:schemeClr val="tx1"/>
                </a:solidFill>
                <a:latin typeface="Times New Roman" panose="02020603050405020304" pitchFamily="18" charset="0"/>
                <a:cs typeface="Times New Roman" panose="02020603050405020304" pitchFamily="18" charset="0"/>
              </a:rPr>
              <a:t> for intent detection . It can handle multilingual inputs, provide instant responses, and connect with academic or business applications for smarter workflow management. </a:t>
            </a:r>
          </a:p>
          <a:p>
            <a:r>
              <a:rPr lang="en-US" sz="1500" dirty="0">
                <a:solidFill>
                  <a:schemeClr val="tx1"/>
                </a:solidFill>
                <a:latin typeface="Times New Roman" panose="02020603050405020304" pitchFamily="18" charset="0"/>
                <a:cs typeface="Times New Roman" panose="02020603050405020304" pitchFamily="18" charset="0"/>
              </a:rPr>
              <a:t>Unlike traditional call center solutions that are costly, limited in personalization, and lack multilingual or emotional intelligence, our system is </a:t>
            </a:r>
            <a:r>
              <a:rPr lang="en-US" sz="1500" b="1" dirty="0">
                <a:solidFill>
                  <a:schemeClr val="tx1"/>
                </a:solidFill>
                <a:latin typeface="Times New Roman" panose="02020603050405020304" pitchFamily="18" charset="0"/>
                <a:cs typeface="Times New Roman" panose="02020603050405020304" pitchFamily="18" charset="0"/>
              </a:rPr>
              <a:t>scalable, cost-effective, and future-ready</a:t>
            </a:r>
            <a:r>
              <a:rPr lang="en-US" sz="1500" dirty="0">
                <a:solidFill>
                  <a:schemeClr val="tx1"/>
                </a:solidFill>
                <a:latin typeface="Times New Roman" panose="02020603050405020304" pitchFamily="18" charset="0"/>
                <a:cs typeface="Times New Roman" panose="02020603050405020304" pitchFamily="18" charset="0"/>
              </a:rPr>
              <a:t>. With potential enhancements such as </a:t>
            </a:r>
            <a:r>
              <a:rPr lang="en-US" sz="1500" b="1" dirty="0">
                <a:solidFill>
                  <a:schemeClr val="tx1"/>
                </a:solidFill>
                <a:latin typeface="Times New Roman" panose="02020603050405020304" pitchFamily="18" charset="0"/>
                <a:cs typeface="Times New Roman" panose="02020603050405020304" pitchFamily="18" charset="0"/>
              </a:rPr>
              <a:t>emotion recognition, voice-based authentication, and deeper integrations</a:t>
            </a:r>
            <a:r>
              <a:rPr lang="en-US" sz="1500" dirty="0">
                <a:solidFill>
                  <a:schemeClr val="tx1"/>
                </a:solidFill>
                <a:latin typeface="Times New Roman" panose="02020603050405020304" pitchFamily="18" charset="0"/>
                <a:cs typeface="Times New Roman" panose="02020603050405020304" pitchFamily="18" charset="0"/>
              </a:rPr>
              <a:t>, it aims to deliver a smarter and more satisfying student support experience.</a:t>
            </a:r>
          </a:p>
        </p:txBody>
      </p:sp>
    </p:spTree>
    <p:extLst>
      <p:ext uri="{BB962C8B-B14F-4D97-AF65-F5344CB8AC3E}">
        <p14:creationId xmlns:p14="http://schemas.microsoft.com/office/powerpoint/2010/main" val="417943603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7158B-598F-B94B-C2A2-FF04F07223B0}"/>
              </a:ext>
            </a:extLst>
          </p:cNvPr>
          <p:cNvSpPr>
            <a:spLocks noGrp="1"/>
          </p:cNvSpPr>
          <p:nvPr>
            <p:ph type="title"/>
          </p:nvPr>
        </p:nvSpPr>
        <p:spPr>
          <a:xfrm>
            <a:off x="1358754" y="224019"/>
            <a:ext cx="5718373" cy="430887"/>
          </a:xfrm>
        </p:spPr>
        <p:txBody>
          <a:bodyPr spcFirstLastPara="1" wrap="square" lIns="0" tIns="0" rIns="0" bIns="0" anchor="t" anchorCtr="0">
            <a:spAutoFit/>
          </a:bodyPr>
          <a:lstStyle/>
          <a:p>
            <a:pPr algn="ctr"/>
            <a:r>
              <a:rPr lang="en-US" sz="2700"/>
              <a:t>Hardware / Software Specificatio</a:t>
            </a:r>
            <a:r>
              <a:rPr lang="en-US" b="0"/>
              <a:t>n</a:t>
            </a:r>
            <a:endParaRPr lang="en-US"/>
          </a:p>
        </p:txBody>
      </p:sp>
      <p:graphicFrame>
        <p:nvGraphicFramePr>
          <p:cNvPr id="4" name="Table 3">
            <a:extLst>
              <a:ext uri="{FF2B5EF4-FFF2-40B4-BE49-F238E27FC236}">
                <a16:creationId xmlns:a16="http://schemas.microsoft.com/office/drawing/2014/main" id="{7E47CDAB-FBA2-4B82-7560-78F7467CFCCB}"/>
              </a:ext>
            </a:extLst>
          </p:cNvPr>
          <p:cNvGraphicFramePr>
            <a:graphicFrameLocks noGrp="1"/>
          </p:cNvGraphicFramePr>
          <p:nvPr/>
        </p:nvGraphicFramePr>
        <p:xfrm>
          <a:off x="657764" y="819509"/>
          <a:ext cx="7876636" cy="3962040"/>
        </p:xfrm>
        <a:graphic>
          <a:graphicData uri="http://schemas.openxmlformats.org/drawingml/2006/table">
            <a:tbl>
              <a:tblPr firstRow="1" bandRow="1">
                <a:tableStyleId>{5C22544A-7EE6-4342-B048-85BDC9FD1C3A}</a:tableStyleId>
              </a:tblPr>
              <a:tblGrid>
                <a:gridCol w="3938318">
                  <a:extLst>
                    <a:ext uri="{9D8B030D-6E8A-4147-A177-3AD203B41FA5}">
                      <a16:colId xmlns:a16="http://schemas.microsoft.com/office/drawing/2014/main" val="970639454"/>
                    </a:ext>
                  </a:extLst>
                </a:gridCol>
                <a:gridCol w="3938318">
                  <a:extLst>
                    <a:ext uri="{9D8B030D-6E8A-4147-A177-3AD203B41FA5}">
                      <a16:colId xmlns:a16="http://schemas.microsoft.com/office/drawing/2014/main" val="2330029744"/>
                    </a:ext>
                  </a:extLst>
                </a:gridCol>
              </a:tblGrid>
              <a:tr h="370198">
                <a:tc>
                  <a:txBody>
                    <a:bodyPr/>
                    <a:lstStyle/>
                    <a:p>
                      <a:pPr algn="ctr"/>
                      <a:r>
                        <a:rPr lang="en-US" sz="1400" b="1" dirty="0">
                          <a:solidFill>
                            <a:schemeClr val="tx1"/>
                          </a:solidFill>
                        </a:rPr>
                        <a:t>SOFTWARE </a:t>
                      </a:r>
                    </a:p>
                  </a:txBody>
                  <a:tcPr marL="45720" marR="45720" marT="22860" marB="22860">
                    <a:solidFill>
                      <a:srgbClr val="ED7D31"/>
                    </a:solidFill>
                  </a:tcPr>
                </a:tc>
                <a:tc>
                  <a:txBody>
                    <a:bodyPr/>
                    <a:lstStyle/>
                    <a:p>
                      <a:pPr algn="ctr"/>
                      <a:r>
                        <a:rPr lang="en-US" sz="1400" dirty="0">
                          <a:solidFill>
                            <a:schemeClr val="tx1"/>
                          </a:solidFill>
                        </a:rPr>
                        <a:t>HARDWARE</a:t>
                      </a:r>
                    </a:p>
                  </a:txBody>
                  <a:tcPr marL="45720" marR="45720" marT="22860" marB="22860">
                    <a:solidFill>
                      <a:srgbClr val="ED7D31"/>
                    </a:solidFill>
                  </a:tcPr>
                </a:tc>
                <a:extLst>
                  <a:ext uri="{0D108BD9-81ED-4DB2-BD59-A6C34878D82A}">
                    <a16:rowId xmlns:a16="http://schemas.microsoft.com/office/drawing/2014/main" val="2416461245"/>
                  </a:ext>
                </a:extLst>
              </a:tr>
              <a:tr h="370198">
                <a:tc>
                  <a:txBody>
                    <a:bodyPr/>
                    <a:lstStyle/>
                    <a:p>
                      <a:pPr lvl="0">
                        <a:buNone/>
                      </a:pPr>
                      <a:r>
                        <a:rPr lang="en-US" sz="1400" b="0" i="0" u="none" strike="noStrike" noProof="0">
                          <a:latin typeface="Calibri"/>
                        </a:rPr>
                        <a:t>Vapi AI – Voice conversation </a:t>
                      </a:r>
                      <a:r>
                        <a:rPr lang="en-US" sz="1400" b="0" i="0" u="none" strike="noStrike" noProof="0">
                          <a:solidFill>
                            <a:schemeClr val="dk1"/>
                          </a:solidFill>
                          <a:latin typeface="Calibri"/>
                          <a:ea typeface="+mn-ea"/>
                          <a:cs typeface="+mn-cs"/>
                        </a:rPr>
                        <a:t>engine</a:t>
                      </a:r>
                      <a:r>
                        <a:rPr lang="en-US" sz="1400" b="0" i="0" u="none" strike="noStrike" noProof="0">
                          <a:latin typeface="Calibri"/>
                        </a:rPr>
                        <a:t> </a:t>
                      </a:r>
                      <a:endParaRPr lang="en-US" sz="1400"/>
                    </a:p>
                  </a:txBody>
                  <a:tcPr marL="45720" marR="45720" marT="22860" marB="22860">
                    <a:solidFill>
                      <a:schemeClr val="accent6">
                        <a:lumMod val="60000"/>
                        <a:lumOff val="40000"/>
                      </a:schemeClr>
                    </a:solidFill>
                  </a:tcPr>
                </a:tc>
                <a:tc>
                  <a:txBody>
                    <a:bodyPr/>
                    <a:lstStyle/>
                    <a:p>
                      <a:pPr lvl="0">
                        <a:buNone/>
                      </a:pPr>
                      <a:r>
                        <a:rPr lang="en-US" sz="1400" b="0" i="0" u="none" strike="noStrike" noProof="0">
                          <a:latin typeface="Calibri"/>
                        </a:rPr>
                        <a:t>Laptop/Desktop – Development (4 GB+ RAM)  </a:t>
                      </a:r>
                      <a:endParaRPr lang="en-US" sz="1400"/>
                    </a:p>
                  </a:txBody>
                  <a:tcPr marL="45720" marR="45720" marT="22860" marB="22860">
                    <a:solidFill>
                      <a:schemeClr val="accent6">
                        <a:lumMod val="60000"/>
                        <a:lumOff val="40000"/>
                      </a:schemeClr>
                    </a:solidFill>
                  </a:tcPr>
                </a:tc>
                <a:extLst>
                  <a:ext uri="{0D108BD9-81ED-4DB2-BD59-A6C34878D82A}">
                    <a16:rowId xmlns:a16="http://schemas.microsoft.com/office/drawing/2014/main" val="3708646446"/>
                  </a:ext>
                </a:extLst>
              </a:tr>
              <a:tr h="370198">
                <a:tc>
                  <a:txBody>
                    <a:bodyPr/>
                    <a:lstStyle/>
                    <a:p>
                      <a:pPr lvl="0">
                        <a:buNone/>
                      </a:pPr>
                      <a:r>
                        <a:rPr lang="en-US" sz="1400" b="0" i="0" u="none" strike="noStrike" noProof="0">
                          <a:latin typeface="Calibri"/>
                        </a:rPr>
                        <a:t>Make.com – Workflow automation   </a:t>
                      </a:r>
                      <a:endParaRPr lang="en-US" sz="1400"/>
                    </a:p>
                  </a:txBody>
                  <a:tcPr marL="45720" marR="45720" marT="22860" marB="22860">
                    <a:solidFill>
                      <a:schemeClr val="accent6">
                        <a:lumMod val="20000"/>
                        <a:lumOff val="80000"/>
                      </a:schemeClr>
                    </a:solidFill>
                  </a:tcPr>
                </a:tc>
                <a:tc>
                  <a:txBody>
                    <a:bodyPr/>
                    <a:lstStyle/>
                    <a:p>
                      <a:pPr lvl="0">
                        <a:buNone/>
                      </a:pPr>
                      <a:r>
                        <a:rPr lang="en-US" sz="1400" b="0" i="0" u="none" strike="noStrike" noProof="0">
                          <a:latin typeface="Calibri"/>
                        </a:rPr>
                        <a:t>Internet Connectivity – For APIs &amp; services  </a:t>
                      </a:r>
                      <a:endParaRPr lang="en-US" sz="1400"/>
                    </a:p>
                  </a:txBody>
                  <a:tcPr marL="45720" marR="45720" marT="22860" marB="22860">
                    <a:solidFill>
                      <a:schemeClr val="accent6">
                        <a:lumMod val="20000"/>
                        <a:lumOff val="80000"/>
                      </a:schemeClr>
                    </a:solidFill>
                  </a:tcPr>
                </a:tc>
                <a:extLst>
                  <a:ext uri="{0D108BD9-81ED-4DB2-BD59-A6C34878D82A}">
                    <a16:rowId xmlns:a16="http://schemas.microsoft.com/office/drawing/2014/main" val="3315250868"/>
                  </a:ext>
                </a:extLst>
              </a:tr>
              <a:tr h="370198">
                <a:tc>
                  <a:txBody>
                    <a:bodyPr/>
                    <a:lstStyle/>
                    <a:p>
                      <a:pPr lvl="0" algn="l">
                        <a:buNone/>
                      </a:pPr>
                      <a:r>
                        <a:rPr lang="en-US" sz="1400" b="0" i="0" u="none" strike="noStrike" noProof="0" dirty="0" err="1">
                          <a:latin typeface="Calibri"/>
                        </a:rPr>
                        <a:t>Ollama</a:t>
                      </a:r>
                      <a:r>
                        <a:rPr lang="en-US" sz="1400" b="0" i="0" u="none" strike="noStrike" noProof="0" dirty="0">
                          <a:latin typeface="Calibri"/>
                        </a:rPr>
                        <a:t> – Large Language model</a:t>
                      </a:r>
                      <a:endParaRPr lang="en-US" sz="1400" dirty="0"/>
                    </a:p>
                  </a:txBody>
                  <a:tcPr marL="45720" marR="45720" marT="22860" marB="22860">
                    <a:solidFill>
                      <a:schemeClr val="accent6">
                        <a:lumMod val="60000"/>
                        <a:lumOff val="40000"/>
                      </a:schemeClr>
                    </a:solidFill>
                  </a:tcPr>
                </a:tc>
                <a:tc>
                  <a:txBody>
                    <a:bodyPr/>
                    <a:lstStyle/>
                    <a:p>
                      <a:pPr lvl="0">
                        <a:buNone/>
                      </a:pPr>
                      <a:r>
                        <a:rPr lang="en-US" sz="1400" b="0" i="0" u="none" strike="noStrike" noProof="0">
                          <a:latin typeface="Calibri"/>
                        </a:rPr>
                        <a:t>Mobile Phone – For testing AI calls  </a:t>
                      </a:r>
                      <a:endParaRPr lang="en-US" sz="1400"/>
                    </a:p>
                  </a:txBody>
                  <a:tcPr marL="45720" marR="45720" marT="22860" marB="22860">
                    <a:solidFill>
                      <a:schemeClr val="accent6">
                        <a:lumMod val="60000"/>
                        <a:lumOff val="40000"/>
                      </a:schemeClr>
                    </a:solidFill>
                  </a:tcPr>
                </a:tc>
                <a:extLst>
                  <a:ext uri="{0D108BD9-81ED-4DB2-BD59-A6C34878D82A}">
                    <a16:rowId xmlns:a16="http://schemas.microsoft.com/office/drawing/2014/main" val="1763272444"/>
                  </a:ext>
                </a:extLst>
              </a:tr>
              <a:tr h="370198">
                <a:tc>
                  <a:txBody>
                    <a:bodyPr/>
                    <a:lstStyle/>
                    <a:p>
                      <a:pPr lvl="0">
                        <a:buNone/>
                      </a:pPr>
                      <a:r>
                        <a:rPr lang="en-US" sz="1400" b="0" i="0" u="none" strike="noStrike" noProof="0">
                          <a:latin typeface="Calibri"/>
                        </a:rPr>
                        <a:t>OpenAI / Azure – Communications  </a:t>
                      </a:r>
                      <a:endParaRPr lang="en-US" sz="1400"/>
                    </a:p>
                  </a:txBody>
                  <a:tcPr marL="45720" marR="45720" marT="22860" marB="22860">
                    <a:solidFill>
                      <a:schemeClr val="accent6">
                        <a:lumMod val="20000"/>
                        <a:lumOff val="80000"/>
                      </a:schemeClr>
                    </a:solidFill>
                  </a:tcPr>
                </a:tc>
                <a:tc>
                  <a:txBody>
                    <a:bodyPr/>
                    <a:lstStyle/>
                    <a:p>
                      <a:pPr lvl="0">
                        <a:buNone/>
                      </a:pPr>
                      <a:endParaRPr lang="en-US" sz="700"/>
                    </a:p>
                  </a:txBody>
                  <a:tcPr marL="45720" marR="45720" marT="22860" marB="22860">
                    <a:solidFill>
                      <a:schemeClr val="accent6">
                        <a:lumMod val="20000"/>
                        <a:lumOff val="80000"/>
                      </a:schemeClr>
                    </a:solidFill>
                  </a:tcPr>
                </a:tc>
                <a:extLst>
                  <a:ext uri="{0D108BD9-81ED-4DB2-BD59-A6C34878D82A}">
                    <a16:rowId xmlns:a16="http://schemas.microsoft.com/office/drawing/2014/main" val="691119396"/>
                  </a:ext>
                </a:extLst>
              </a:tr>
              <a:tr h="500228">
                <a:tc>
                  <a:txBody>
                    <a:bodyPr/>
                    <a:lstStyle/>
                    <a:p>
                      <a:pPr lvl="0">
                        <a:buNone/>
                      </a:pPr>
                      <a:r>
                        <a:rPr lang="en-US" sz="1400" b="0" i="0" u="none" strike="noStrike" noProof="0">
                          <a:latin typeface="Calibri"/>
                        </a:rPr>
                        <a:t>MongoDB / Firebase / SharePoint – Database storage </a:t>
                      </a:r>
                      <a:endParaRPr lang="en-US" sz="1400"/>
                    </a:p>
                  </a:txBody>
                  <a:tcPr marL="45720" marR="45720" marT="22860" marB="22860">
                    <a:solidFill>
                      <a:schemeClr val="accent6">
                        <a:lumMod val="60000"/>
                        <a:lumOff val="40000"/>
                      </a:schemeClr>
                    </a:solidFill>
                  </a:tcPr>
                </a:tc>
                <a:tc>
                  <a:txBody>
                    <a:bodyPr/>
                    <a:lstStyle/>
                    <a:p>
                      <a:pPr lvl="0">
                        <a:buNone/>
                      </a:pPr>
                      <a:endParaRPr lang="en-US" sz="700"/>
                    </a:p>
                  </a:txBody>
                  <a:tcPr marL="45720" marR="45720" marT="22860" marB="22860">
                    <a:solidFill>
                      <a:schemeClr val="accent6">
                        <a:lumMod val="60000"/>
                        <a:lumOff val="40000"/>
                      </a:schemeClr>
                    </a:solidFill>
                  </a:tcPr>
                </a:tc>
                <a:extLst>
                  <a:ext uri="{0D108BD9-81ED-4DB2-BD59-A6C34878D82A}">
                    <a16:rowId xmlns:a16="http://schemas.microsoft.com/office/drawing/2014/main" val="515169230"/>
                  </a:ext>
                </a:extLst>
              </a:tr>
              <a:tr h="370198">
                <a:tc>
                  <a:txBody>
                    <a:bodyPr/>
                    <a:lstStyle/>
                    <a:p>
                      <a:pPr lvl="0">
                        <a:buNone/>
                      </a:pPr>
                      <a:r>
                        <a:rPr lang="en-US" sz="1400" b="0" i="0" u="none" strike="noStrike" noProof="0">
                          <a:latin typeface="Calibri"/>
                        </a:rPr>
                        <a:t>JWT / Firebase Auth – Authentication </a:t>
                      </a:r>
                      <a:endParaRPr lang="en-US" sz="1400"/>
                    </a:p>
                  </a:txBody>
                  <a:tcPr marL="45720" marR="45720" marT="22860" marB="22860">
                    <a:solidFill>
                      <a:schemeClr val="accent6">
                        <a:lumMod val="20000"/>
                        <a:lumOff val="80000"/>
                      </a:schemeClr>
                    </a:solidFill>
                  </a:tcPr>
                </a:tc>
                <a:tc>
                  <a:txBody>
                    <a:bodyPr/>
                    <a:lstStyle/>
                    <a:p>
                      <a:pPr lvl="0">
                        <a:buNone/>
                      </a:pPr>
                      <a:endParaRPr lang="en-US" sz="700"/>
                    </a:p>
                  </a:txBody>
                  <a:tcPr marL="45720" marR="45720" marT="22860" marB="22860">
                    <a:solidFill>
                      <a:schemeClr val="accent6">
                        <a:lumMod val="20000"/>
                        <a:lumOff val="80000"/>
                      </a:schemeClr>
                    </a:solidFill>
                  </a:tcPr>
                </a:tc>
                <a:extLst>
                  <a:ext uri="{0D108BD9-81ED-4DB2-BD59-A6C34878D82A}">
                    <a16:rowId xmlns:a16="http://schemas.microsoft.com/office/drawing/2014/main" val="4079313115"/>
                  </a:ext>
                </a:extLst>
              </a:tr>
              <a:tr h="370198">
                <a:tc>
                  <a:txBody>
                    <a:bodyPr/>
                    <a:lstStyle/>
                    <a:p>
                      <a:pPr lvl="0">
                        <a:buNone/>
                      </a:pPr>
                      <a:r>
                        <a:rPr lang="en-US" sz="1400" b="0" i="0" u="none" strike="noStrike" noProof="0">
                          <a:latin typeface="Calibri"/>
                        </a:rPr>
                        <a:t>Axios / Postman – API communication/testing  </a:t>
                      </a:r>
                      <a:endParaRPr lang="en-US" sz="1400"/>
                    </a:p>
                  </a:txBody>
                  <a:tcPr marL="45720" marR="45720" marT="22860" marB="22860">
                    <a:solidFill>
                      <a:schemeClr val="accent6">
                        <a:lumMod val="60000"/>
                        <a:lumOff val="40000"/>
                      </a:schemeClr>
                    </a:solidFill>
                  </a:tcPr>
                </a:tc>
                <a:tc>
                  <a:txBody>
                    <a:bodyPr/>
                    <a:lstStyle/>
                    <a:p>
                      <a:pPr lvl="0">
                        <a:buNone/>
                      </a:pPr>
                      <a:endParaRPr lang="en-US" sz="700"/>
                    </a:p>
                  </a:txBody>
                  <a:tcPr marL="45720" marR="45720" marT="22860" marB="22860">
                    <a:solidFill>
                      <a:schemeClr val="accent6">
                        <a:lumMod val="60000"/>
                        <a:lumOff val="40000"/>
                      </a:schemeClr>
                    </a:solidFill>
                  </a:tcPr>
                </a:tc>
                <a:extLst>
                  <a:ext uri="{0D108BD9-81ED-4DB2-BD59-A6C34878D82A}">
                    <a16:rowId xmlns:a16="http://schemas.microsoft.com/office/drawing/2014/main" val="3534915414"/>
                  </a:ext>
                </a:extLst>
              </a:tr>
              <a:tr h="500228">
                <a:tc>
                  <a:txBody>
                    <a:bodyPr/>
                    <a:lstStyle/>
                    <a:p>
                      <a:pPr lvl="0">
                        <a:buNone/>
                      </a:pPr>
                      <a:r>
                        <a:rPr lang="en-US" sz="1400" b="0" i="0" u="none" strike="noStrike" noProof="0">
                          <a:latin typeface="Calibri"/>
                        </a:rPr>
                        <a:t>Chart.js / Google Sheets – Call analytics (optional)</a:t>
                      </a:r>
                      <a:endParaRPr lang="en-US" sz="700">
                        <a:latin typeface="Calibri"/>
                      </a:endParaRPr>
                    </a:p>
                  </a:txBody>
                  <a:tcPr marL="45720" marR="45720" marT="22860" marB="22860">
                    <a:solidFill>
                      <a:schemeClr val="accent6">
                        <a:lumMod val="20000"/>
                        <a:lumOff val="80000"/>
                      </a:schemeClr>
                    </a:solidFill>
                  </a:tcPr>
                </a:tc>
                <a:tc>
                  <a:txBody>
                    <a:bodyPr/>
                    <a:lstStyle/>
                    <a:p>
                      <a:pPr lvl="0">
                        <a:buNone/>
                      </a:pPr>
                      <a:endParaRPr lang="en-US" sz="700"/>
                    </a:p>
                  </a:txBody>
                  <a:tcPr marL="45720" marR="45720" marT="22860" marB="22860">
                    <a:solidFill>
                      <a:schemeClr val="accent6">
                        <a:lumMod val="20000"/>
                        <a:lumOff val="80000"/>
                      </a:schemeClr>
                    </a:solidFill>
                  </a:tcPr>
                </a:tc>
                <a:extLst>
                  <a:ext uri="{0D108BD9-81ED-4DB2-BD59-A6C34878D82A}">
                    <a16:rowId xmlns:a16="http://schemas.microsoft.com/office/drawing/2014/main" val="1404501335"/>
                  </a:ext>
                </a:extLst>
              </a:tr>
              <a:tr h="370198">
                <a:tc>
                  <a:txBody>
                    <a:bodyPr/>
                    <a:lstStyle/>
                    <a:p>
                      <a:pPr lvl="0">
                        <a:buNone/>
                      </a:pPr>
                      <a:r>
                        <a:rPr lang="en-US" sz="1400" b="0" i="0" u="none" strike="noStrike" noProof="0">
                          <a:latin typeface="Calibri"/>
                        </a:rPr>
                        <a:t>Twilio – Phone Number  </a:t>
                      </a:r>
                      <a:endParaRPr lang="en-US" sz="700"/>
                    </a:p>
                  </a:txBody>
                  <a:tcPr marL="45720" marR="45720" marT="22860" marB="22860">
                    <a:solidFill>
                      <a:schemeClr val="accent6">
                        <a:lumMod val="60000"/>
                        <a:lumOff val="40000"/>
                      </a:schemeClr>
                    </a:solidFill>
                  </a:tcPr>
                </a:tc>
                <a:tc>
                  <a:txBody>
                    <a:bodyPr/>
                    <a:lstStyle/>
                    <a:p>
                      <a:pPr lvl="0">
                        <a:buNone/>
                      </a:pPr>
                      <a:endParaRPr lang="en-US" sz="700" dirty="0"/>
                    </a:p>
                  </a:txBody>
                  <a:tcPr marL="45720" marR="45720" marT="22860" marB="22860">
                    <a:solidFill>
                      <a:schemeClr val="accent6">
                        <a:lumMod val="60000"/>
                        <a:lumOff val="40000"/>
                      </a:schemeClr>
                    </a:solidFill>
                  </a:tcPr>
                </a:tc>
                <a:extLst>
                  <a:ext uri="{0D108BD9-81ED-4DB2-BD59-A6C34878D82A}">
                    <a16:rowId xmlns:a16="http://schemas.microsoft.com/office/drawing/2014/main" val="1221167385"/>
                  </a:ext>
                </a:extLst>
              </a:tr>
            </a:tbl>
          </a:graphicData>
        </a:graphic>
      </p:graphicFrame>
    </p:spTree>
    <p:extLst>
      <p:ext uri="{BB962C8B-B14F-4D97-AF65-F5344CB8AC3E}">
        <p14:creationId xmlns:p14="http://schemas.microsoft.com/office/powerpoint/2010/main" val="216349274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0E016-BF17-0B1D-8D0D-E8A239FBFBC4}"/>
              </a:ext>
            </a:extLst>
          </p:cNvPr>
          <p:cNvSpPr>
            <a:spLocks noGrp="1"/>
          </p:cNvSpPr>
          <p:nvPr>
            <p:ph type="title"/>
          </p:nvPr>
        </p:nvSpPr>
        <p:spPr>
          <a:xfrm>
            <a:off x="345151" y="224019"/>
            <a:ext cx="5039043" cy="439420"/>
          </a:xfrm>
        </p:spPr>
        <p:txBody>
          <a:bodyPr spcFirstLastPara="1" wrap="square" lIns="0" tIns="0" rIns="0" bIns="0" anchor="t" anchorCtr="0">
            <a:spAutoFit/>
          </a:bodyPr>
          <a:lstStyle/>
          <a:p>
            <a:r>
              <a:rPr lang="en-IN" dirty="0"/>
              <a:t>Literature Survey</a:t>
            </a:r>
          </a:p>
        </p:txBody>
      </p:sp>
      <p:graphicFrame>
        <p:nvGraphicFramePr>
          <p:cNvPr id="4" name="Table 3">
            <a:extLst>
              <a:ext uri="{FF2B5EF4-FFF2-40B4-BE49-F238E27FC236}">
                <a16:creationId xmlns:a16="http://schemas.microsoft.com/office/drawing/2014/main" id="{3E2DCC0A-F554-0DE8-2BDF-DD63C337BE31}"/>
              </a:ext>
            </a:extLst>
          </p:cNvPr>
          <p:cNvGraphicFramePr>
            <a:graphicFrameLocks noGrp="1"/>
          </p:cNvGraphicFramePr>
          <p:nvPr/>
        </p:nvGraphicFramePr>
        <p:xfrm>
          <a:off x="409755" y="711679"/>
          <a:ext cx="8313188" cy="4213860"/>
        </p:xfrm>
        <a:graphic>
          <a:graphicData uri="http://schemas.openxmlformats.org/drawingml/2006/table">
            <a:tbl>
              <a:tblPr/>
              <a:tblGrid>
                <a:gridCol w="351035">
                  <a:extLst>
                    <a:ext uri="{9D8B030D-6E8A-4147-A177-3AD203B41FA5}">
                      <a16:colId xmlns:a16="http://schemas.microsoft.com/office/drawing/2014/main" val="2689724784"/>
                    </a:ext>
                  </a:extLst>
                </a:gridCol>
                <a:gridCol w="1421355">
                  <a:extLst>
                    <a:ext uri="{9D8B030D-6E8A-4147-A177-3AD203B41FA5}">
                      <a16:colId xmlns:a16="http://schemas.microsoft.com/office/drawing/2014/main" val="198902510"/>
                    </a:ext>
                  </a:extLst>
                </a:gridCol>
                <a:gridCol w="676169">
                  <a:extLst>
                    <a:ext uri="{9D8B030D-6E8A-4147-A177-3AD203B41FA5}">
                      <a16:colId xmlns:a16="http://schemas.microsoft.com/office/drawing/2014/main" val="2738212169"/>
                    </a:ext>
                  </a:extLst>
                </a:gridCol>
                <a:gridCol w="809610">
                  <a:extLst>
                    <a:ext uri="{9D8B030D-6E8A-4147-A177-3AD203B41FA5}">
                      <a16:colId xmlns:a16="http://schemas.microsoft.com/office/drawing/2014/main" val="1424717554"/>
                    </a:ext>
                  </a:extLst>
                </a:gridCol>
                <a:gridCol w="1191883">
                  <a:extLst>
                    <a:ext uri="{9D8B030D-6E8A-4147-A177-3AD203B41FA5}">
                      <a16:colId xmlns:a16="http://schemas.microsoft.com/office/drawing/2014/main" val="2711302815"/>
                    </a:ext>
                  </a:extLst>
                </a:gridCol>
                <a:gridCol w="1287712">
                  <a:extLst>
                    <a:ext uri="{9D8B030D-6E8A-4147-A177-3AD203B41FA5}">
                      <a16:colId xmlns:a16="http://schemas.microsoft.com/office/drawing/2014/main" val="1708080542"/>
                    </a:ext>
                  </a:extLst>
                </a:gridCol>
                <a:gridCol w="1287712">
                  <a:extLst>
                    <a:ext uri="{9D8B030D-6E8A-4147-A177-3AD203B41FA5}">
                      <a16:colId xmlns:a16="http://schemas.microsoft.com/office/drawing/2014/main" val="1660274727"/>
                    </a:ext>
                  </a:extLst>
                </a:gridCol>
                <a:gridCol w="1287712">
                  <a:extLst>
                    <a:ext uri="{9D8B030D-6E8A-4147-A177-3AD203B41FA5}">
                      <a16:colId xmlns:a16="http://schemas.microsoft.com/office/drawing/2014/main" val="82878972"/>
                    </a:ext>
                  </a:extLst>
                </a:gridCol>
              </a:tblGrid>
              <a:tr h="586740">
                <a:tc>
                  <a:txBody>
                    <a:bodyPr/>
                    <a:lstStyle/>
                    <a:p>
                      <a:pPr rtl="0" fontAlgn="t">
                        <a:buNone/>
                      </a:pPr>
                      <a:r>
                        <a:rPr lang="en-IN" sz="1200" b="0" dirty="0">
                          <a:latin typeface="Times New Roman"/>
                        </a:rPr>
                        <a:t>Sr.</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dirty="0">
                          <a:latin typeface="Times New Roman"/>
                        </a:rPr>
                        <a:t>Title of the paper</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Year</a:t>
                      </a:r>
                      <a:endParaRPr lang="en-IN"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Algorithm/ technique/ tools used</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Accuracy/ Result Achieved</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Remarks</a:t>
                      </a:r>
                      <a:endParaRPr lang="en-IN"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a:latin typeface="Times New Roman"/>
                        </a:rPr>
                        <a:t>Shortcoming/Advantages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a:solidFill>
                        <a:srgbClr val="000000"/>
                      </a:solidFill>
                    </a:lnB>
                    <a:solidFill>
                      <a:srgbClr val="FFAB40"/>
                    </a:solidFill>
                  </a:tcPr>
                </a:tc>
                <a:tc>
                  <a:txBody>
                    <a:bodyPr/>
                    <a:lstStyle/>
                    <a:p>
                      <a:pPr lvl="0">
                        <a:buNone/>
                      </a:pPr>
                      <a:r>
                        <a:rPr lang="en-IN" sz="1200">
                          <a:latin typeface="Times New Roman"/>
                        </a:rPr>
                        <a:t>Link</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a:solidFill>
                        <a:srgbClr val="000000"/>
                      </a:solidFill>
                    </a:lnR>
                    <a:lnT w="10157" cap="flat" cmpd="sng" algn="ctr">
                      <a:solidFill>
                        <a:srgbClr val="000000"/>
                      </a:solidFill>
                      <a:prstDash val="solid"/>
                      <a:round/>
                      <a:headEnd type="none" w="med" len="med"/>
                      <a:tailEnd type="none" w="med" len="med"/>
                    </a:lnT>
                    <a:lnB w="10157">
                      <a:solidFill>
                        <a:srgbClr val="000000"/>
                      </a:solidFill>
                    </a:lnB>
                    <a:solidFill>
                      <a:srgbClr val="FFAB40"/>
                    </a:solidFill>
                  </a:tcPr>
                </a:tc>
                <a:extLst>
                  <a:ext uri="{0D108BD9-81ED-4DB2-BD59-A6C34878D82A}">
                    <a16:rowId xmlns:a16="http://schemas.microsoft.com/office/drawing/2014/main" val="1137531577"/>
                  </a:ext>
                </a:extLst>
              </a:tr>
              <a:tr h="952500">
                <a:tc>
                  <a:txBody>
                    <a:bodyPr/>
                    <a:lstStyle/>
                    <a:p>
                      <a:pPr rtl="0" fontAlgn="t">
                        <a:buNone/>
                      </a:pPr>
                      <a:r>
                        <a:rPr lang="en-IN" sz="1400" b="0" i="0" u="none" strike="noStrike" dirty="0">
                          <a:solidFill>
                            <a:srgbClr val="000000"/>
                          </a:solidFill>
                          <a:effectLst/>
                          <a:latin typeface="Times New Roman"/>
                        </a:rPr>
                        <a:t>1.</a:t>
                      </a:r>
                      <a:endParaRPr lang="en-IN" sz="1400" dirty="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Advanced Real‑Time Fraud Detection Using RAG‑Based LLMs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b="0" i="0" u="none" strike="noStrike">
                          <a:solidFill>
                            <a:srgbClr val="000000"/>
                          </a:solidFill>
                          <a:effectLst/>
                          <a:latin typeface="Times New Roman"/>
                        </a:rPr>
                        <a:t>2025</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b="0" i="0" u="none" strike="noStrike" noProof="0" dirty="0">
                          <a:solidFill>
                            <a:srgbClr val="000000"/>
                          </a:solidFill>
                          <a:effectLst/>
                          <a:latin typeface="Times New Roman"/>
                        </a:rPr>
                        <a:t>RAG (Retrieval-Augmented Generation), LLM</a:t>
                      </a:r>
                      <a:endParaRPr lang="en-US"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dirty="0">
                          <a:solidFill>
                            <a:srgbClr val="000000"/>
                          </a:solidFill>
                          <a:effectLst/>
                          <a:latin typeface="Times New Roman"/>
                        </a:rPr>
                        <a:t>~98% fraud detection accuracy</a:t>
                      </a:r>
                      <a:endParaRPr lang="en-US"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dirty="0">
                          <a:solidFill>
                            <a:srgbClr val="000000"/>
                          </a:solidFill>
                          <a:effectLst/>
                          <a:latin typeface="Times New Roman"/>
                        </a:rPr>
                        <a:t>Detects fraud in real-time calls using grounded LLM responses</a:t>
                      </a:r>
                      <a:endParaRPr lang="en-US"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 Needs good corpus</a:t>
                      </a:r>
                      <a:endParaRPr lang="en-US" sz="1200">
                        <a:latin typeface="Times New Roman"/>
                      </a:endParaRPr>
                    </a:p>
                    <a:p>
                      <a:pPr lvl="0">
                        <a:buNone/>
                      </a:pPr>
                      <a:r>
                        <a:rPr lang="en-US" sz="1200" b="0" i="0" u="none" strike="noStrike" noProof="0">
                          <a:solidFill>
                            <a:srgbClr val="000000"/>
                          </a:solidFill>
                          <a:effectLst/>
                          <a:latin typeface="Times New Roman"/>
                        </a:rPr>
                        <a:t>High precision</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AB40"/>
                    </a:solidFill>
                  </a:tcPr>
                </a:tc>
                <a:tc>
                  <a:txBody>
                    <a:bodyPr/>
                    <a:lstStyle/>
                    <a:p>
                      <a:pPr lvl="0">
                        <a:buNone/>
                      </a:pPr>
                      <a:r>
                        <a:rPr lang="en-US" sz="1200" b="0" i="0" u="none" strike="noStrike" noProof="0">
                          <a:solidFill>
                            <a:srgbClr val="000000"/>
                          </a:solidFill>
                          <a:effectLst/>
                          <a:latin typeface="Times New Roman"/>
                        </a:rPr>
                        <a:t>https://arxiv.org/abs/2501.15290</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AB40"/>
                    </a:solidFill>
                  </a:tcPr>
                </a:tc>
                <a:extLst>
                  <a:ext uri="{0D108BD9-81ED-4DB2-BD59-A6C34878D82A}">
                    <a16:rowId xmlns:a16="http://schemas.microsoft.com/office/drawing/2014/main" val="1524407547"/>
                  </a:ext>
                </a:extLst>
              </a:tr>
              <a:tr h="1135380">
                <a:tc>
                  <a:txBody>
                    <a:bodyPr/>
                    <a:lstStyle/>
                    <a:p>
                      <a:pPr rtl="0" fontAlgn="t">
                        <a:buNone/>
                      </a:pPr>
                      <a:r>
                        <a:rPr lang="en-IN" sz="1400" b="0" i="0" u="none" strike="noStrike">
                          <a:solidFill>
                            <a:srgbClr val="000000"/>
                          </a:solidFill>
                          <a:effectLst/>
                          <a:latin typeface="Times New Roman"/>
                        </a:rPr>
                        <a:t>2.</a:t>
                      </a:r>
                      <a:endParaRPr lang="en-IN" sz="14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IN" sz="1200" b="0" i="0" u="none" strike="noStrike" noProof="0">
                          <a:solidFill>
                            <a:srgbClr val="000000"/>
                          </a:solidFill>
                          <a:effectLst/>
                          <a:latin typeface="Times New Roman"/>
                        </a:rPr>
                        <a:t>Auto Review: Second Stage Error Detection for Phone Conversations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IN" sz="1200" b="0" i="0" u="none" strike="noStrike">
                          <a:solidFill>
                            <a:srgbClr val="000000"/>
                          </a:solidFill>
                          <a:effectLst/>
                          <a:latin typeface="Times New Roman"/>
                        </a:rPr>
                        <a:t>2025</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lgn="l">
                        <a:lnSpc>
                          <a:spcPct val="100000"/>
                        </a:lnSpc>
                        <a:spcBef>
                          <a:spcPts val="0"/>
                        </a:spcBef>
                        <a:spcAft>
                          <a:spcPts val="0"/>
                        </a:spcAft>
                        <a:buNone/>
                      </a:pPr>
                      <a:r>
                        <a:rPr lang="en-IN" sz="1200">
                          <a:latin typeface="Times New Roman"/>
                        </a:rPr>
                        <a:t>ASR alternatives, pseudo-labeling, 2-stage NLP</a:t>
                      </a:r>
                      <a:endParaRPr lang="en-US" sz="1200">
                        <a:latin typeface="Times New Roman"/>
                      </a:endParaRPr>
                    </a:p>
                    <a:p>
                      <a:pPr lvl="0">
                        <a:buNone/>
                      </a:pPr>
                      <a:endParaRPr lang="en-IN" sz="1200" b="0" i="0" u="none" strike="noStrike">
                        <a:solidFill>
                          <a:srgbClr val="000000"/>
                        </a:solidFill>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Significant error reduction</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latin typeface="Times New Roman"/>
                        </a:rPr>
                        <a:t>Improves phone transcription accuracy via layered review</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lgn="l">
                        <a:lnSpc>
                          <a:spcPct val="100000"/>
                        </a:lnSpc>
                        <a:spcBef>
                          <a:spcPts val="0"/>
                        </a:spcBef>
                        <a:spcAft>
                          <a:spcPts val="0"/>
                        </a:spcAft>
                        <a:buNone/>
                      </a:pPr>
                      <a:r>
                        <a:rPr lang="en-US" sz="1200" b="0" i="0" u="none" strike="noStrike" noProof="0">
                          <a:latin typeface="Times New Roman"/>
                        </a:rPr>
                        <a:t>ASR-dependent</a:t>
                      </a:r>
                      <a:endParaRPr lang="en-US" sz="1200">
                        <a:latin typeface="Times New Roman"/>
                      </a:endParaRPr>
                    </a:p>
                    <a:p>
                      <a:pPr lvl="0">
                        <a:buNone/>
                      </a:pPr>
                      <a:r>
                        <a:rPr lang="en-US" sz="1200" b="0" i="0" u="none" strike="noStrike" noProof="0">
                          <a:latin typeface="Times New Roman"/>
                        </a:rPr>
                        <a:t>Less manual review</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D17D"/>
                    </a:solidFill>
                  </a:tcPr>
                </a:tc>
                <a:tc>
                  <a:txBody>
                    <a:bodyPr/>
                    <a:lstStyle/>
                    <a:p>
                      <a:pPr lvl="0">
                        <a:buNone/>
                      </a:pPr>
                      <a:r>
                        <a:rPr lang="en-US" sz="1200" b="0" i="0" u="none" strike="noStrike" noProof="0">
                          <a:latin typeface="Times New Roman"/>
                        </a:rPr>
                        <a:t>https://arxiv.org/abs/2506.05400</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D17D"/>
                    </a:solidFill>
                  </a:tcPr>
                </a:tc>
                <a:extLst>
                  <a:ext uri="{0D108BD9-81ED-4DB2-BD59-A6C34878D82A}">
                    <a16:rowId xmlns:a16="http://schemas.microsoft.com/office/drawing/2014/main" val="2614279485"/>
                  </a:ext>
                </a:extLst>
              </a:tr>
              <a:tr h="769620">
                <a:tc>
                  <a:txBody>
                    <a:bodyPr/>
                    <a:lstStyle/>
                    <a:p>
                      <a:pPr rtl="0" fontAlgn="t">
                        <a:buNone/>
                      </a:pPr>
                      <a:r>
                        <a:rPr lang="en-IN" sz="1400" b="0" i="0" u="none" strike="noStrike">
                          <a:solidFill>
                            <a:srgbClr val="000000"/>
                          </a:solidFill>
                          <a:effectLst/>
                          <a:latin typeface="Times New Roman"/>
                        </a:rPr>
                        <a:t>3.</a:t>
                      </a:r>
                      <a:endParaRPr lang="en-IN" sz="14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b="0" i="0" u="none" strike="noStrike" noProof="0">
                          <a:effectLst/>
                          <a:latin typeface="Times New Roman"/>
                        </a:rPr>
                        <a:t>Generative Voice Bursts during Phone Call</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b="0" i="0" u="none" strike="noStrike">
                          <a:solidFill>
                            <a:srgbClr val="000000"/>
                          </a:solidFill>
                          <a:effectLst/>
                          <a:latin typeface="Times New Roman"/>
                        </a:rPr>
                        <a:t>2025</a:t>
                      </a:r>
                      <a:endParaRPr lang="en-IN" sz="12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base">
                        <a:buAutoNum type="arabicPeriod"/>
                      </a:pPr>
                      <a:r>
                        <a:rPr lang="en-IN" sz="1200" b="0" i="0" u="none" strike="noStrike" noProof="0">
                          <a:solidFill>
                            <a:srgbClr val="000000"/>
                          </a:solidFill>
                          <a:effectLst/>
                          <a:latin typeface="Times New Roman"/>
                        </a:rPr>
                        <a:t>LLMs for contextual voice injection</a:t>
                      </a:r>
                      <a:endParaRPr lang="en-IN" sz="1200" b="0" i="0" u="none" strike="noStrike">
                        <a:solidFill>
                          <a:srgbClr val="000000"/>
                        </a:solidFill>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a:solidFill>
                            <a:srgbClr val="000000"/>
                          </a:solidFill>
                          <a:effectLst/>
                          <a:latin typeface="Times New Roman"/>
                        </a:rPr>
                        <a:t>N/A (qualitative insights)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US" sz="1200" b="0" i="0" u="none" strike="noStrike">
                          <a:solidFill>
                            <a:srgbClr val="000000"/>
                          </a:solidFill>
                          <a:effectLst/>
                          <a:latin typeface="Times New Roman"/>
                        </a:rPr>
                        <a:t>l</a:t>
                      </a:r>
                      <a:r>
                        <a:rPr lang="en-US" sz="1200" b="0" i="0" u="none" strike="noStrike" noProof="0">
                          <a:solidFill>
                            <a:srgbClr val="000000"/>
                          </a:solidFill>
                          <a:effectLst/>
                          <a:latin typeface="Times New Roman"/>
                        </a:rPr>
                        <a:t>Voice alerts injected live during calls</a:t>
                      </a:r>
                      <a:endParaRPr lang="en-US" sz="1200" b="0" i="0" u="none" strike="noStrike">
                        <a:solidFill>
                          <a:srgbClr val="000000"/>
                        </a:solidFill>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No benchmarks</a:t>
                      </a:r>
                      <a:endParaRPr lang="en-US" sz="1200">
                        <a:latin typeface="Times New Roman"/>
                      </a:endParaRPr>
                    </a:p>
                    <a:p>
                      <a:pPr lvl="0">
                        <a:buNone/>
                      </a:pPr>
                      <a:r>
                        <a:rPr lang="en-US" sz="1200" b="0" i="0" u="none" strike="noStrike" noProof="0">
                          <a:solidFill>
                            <a:srgbClr val="000000"/>
                          </a:solidFill>
                          <a:effectLst/>
                          <a:latin typeface="Times New Roman"/>
                        </a:rPr>
                        <a:t> Novel idea</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AB40"/>
                    </a:solidFill>
                  </a:tcPr>
                </a:tc>
                <a:tc>
                  <a:txBody>
                    <a:bodyPr/>
                    <a:lstStyle/>
                    <a:p>
                      <a:pPr lvl="0">
                        <a:buNone/>
                      </a:pPr>
                      <a:r>
                        <a:rPr lang="en-US" sz="1200" b="0" i="0" u="none" strike="noStrike" noProof="0">
                          <a:solidFill>
                            <a:srgbClr val="000000"/>
                          </a:solidFill>
                          <a:effectLst/>
                          <a:latin typeface="Times New Roman"/>
                        </a:rPr>
                        <a:t>https://arxiv.org/abs/2506.07526</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AB40"/>
                    </a:solidFill>
                  </a:tcPr>
                </a:tc>
                <a:extLst>
                  <a:ext uri="{0D108BD9-81ED-4DB2-BD59-A6C34878D82A}">
                    <a16:rowId xmlns:a16="http://schemas.microsoft.com/office/drawing/2014/main" val="78942684"/>
                  </a:ext>
                </a:extLst>
              </a:tr>
              <a:tr h="769620">
                <a:tc>
                  <a:txBody>
                    <a:bodyPr/>
                    <a:lstStyle/>
                    <a:p>
                      <a:pPr rtl="0" fontAlgn="t">
                        <a:buNone/>
                      </a:pPr>
                      <a:r>
                        <a:rPr lang="en-IN" sz="1400" b="0" i="0" u="none" strike="noStrike">
                          <a:solidFill>
                            <a:srgbClr val="000000"/>
                          </a:solidFill>
                          <a:effectLst/>
                          <a:latin typeface="Times New Roman"/>
                        </a:rPr>
                        <a:t>4.</a:t>
                      </a:r>
                      <a:endParaRPr lang="en-IN" sz="14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IN" sz="1200" b="0" i="0" u="none" strike="noStrike">
                          <a:solidFill>
                            <a:srgbClr val="000000"/>
                          </a:solidFill>
                          <a:effectLst/>
                          <a:latin typeface="Times New Roman"/>
                        </a:rPr>
                        <a:t>i</a:t>
                      </a:r>
                      <a:r>
                        <a:rPr lang="en-IN" sz="1200" b="0" i="0" u="none" strike="noStrike" noProof="0">
                          <a:solidFill>
                            <a:srgbClr val="000000"/>
                          </a:solidFill>
                          <a:effectLst/>
                          <a:latin typeface="Times New Roman"/>
                        </a:rPr>
                        <a:t>LLM‑Powered GUI Agents in Phone Automation: A Survey</a:t>
                      </a:r>
                      <a:endParaRPr lang="en-IN" sz="1200" b="0" i="0" u="none" strike="noStrike">
                        <a:solidFill>
                          <a:srgbClr val="000000"/>
                        </a:solidFill>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IN" sz="1200" b="0" i="0" u="none" strike="noStrike">
                          <a:solidFill>
                            <a:srgbClr val="000000"/>
                          </a:solidFill>
                          <a:effectLst/>
                          <a:latin typeface="Times New Roman"/>
                        </a:rPr>
                        <a:t>2024</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US" sz="1200" b="0" i="0" u="none" strike="noStrike">
                          <a:solidFill>
                            <a:srgbClr val="000000"/>
                          </a:solidFill>
                          <a:effectLst/>
                          <a:latin typeface="Times New Roman"/>
                        </a:rPr>
                        <a:t>I</a:t>
                      </a:r>
                      <a:r>
                        <a:rPr lang="en-US" sz="1200" b="0" i="0" u="none" strike="noStrike" noProof="0">
                          <a:solidFill>
                            <a:srgbClr val="000000"/>
                          </a:solidFill>
                          <a:effectLst/>
                          <a:latin typeface="Times New Roman"/>
                        </a:rPr>
                        <a:t>Multi-agent LLM frameworks</a:t>
                      </a:r>
                      <a:endParaRPr lang="en-US" sz="1200" b="0" i="0" u="none" strike="noStrike">
                        <a:solidFill>
                          <a:srgbClr val="000000"/>
                        </a:solidFill>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N/A (survey paper)</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Reviews LLM agent architecture for call flows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 No test data</a:t>
                      </a:r>
                      <a:endParaRPr lang="en-US" sz="1200">
                        <a:latin typeface="Times New Roman"/>
                      </a:endParaRPr>
                    </a:p>
                    <a:p>
                      <a:pPr lvl="0">
                        <a:buNone/>
                      </a:pPr>
                      <a:r>
                        <a:rPr lang="en-US" sz="1200" b="0" i="0" u="none" strike="noStrike" noProof="0">
                          <a:solidFill>
                            <a:srgbClr val="000000"/>
                          </a:solidFill>
                          <a:effectLst/>
                          <a:latin typeface="Times New Roman"/>
                        </a:rPr>
                        <a:t> Great overview</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D17D"/>
                    </a:solidFill>
                  </a:tcPr>
                </a:tc>
                <a:tc>
                  <a:txBody>
                    <a:bodyPr/>
                    <a:lstStyle/>
                    <a:p>
                      <a:pPr lvl="0">
                        <a:buNone/>
                      </a:pPr>
                      <a:r>
                        <a:rPr lang="en-US" sz="1200" b="0" i="0" u="none" strike="noStrike" noProof="0" dirty="0">
                          <a:solidFill>
                            <a:srgbClr val="000000"/>
                          </a:solidFill>
                          <a:effectLst/>
                          <a:latin typeface="Times New Roman"/>
                        </a:rPr>
                        <a:t>https://arxiv.org/abs/2504.19838</a:t>
                      </a:r>
                      <a:endParaRPr lang="en-US" sz="1200" dirty="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D17D"/>
                    </a:solidFill>
                  </a:tcPr>
                </a:tc>
                <a:extLst>
                  <a:ext uri="{0D108BD9-81ED-4DB2-BD59-A6C34878D82A}">
                    <a16:rowId xmlns:a16="http://schemas.microsoft.com/office/drawing/2014/main" val="3102494858"/>
                  </a:ext>
                </a:extLst>
              </a:tr>
            </a:tbl>
          </a:graphicData>
        </a:graphic>
      </p:graphicFrame>
      <p:sp>
        <p:nvSpPr>
          <p:cNvPr id="5" name="Rectangle 1">
            <a:extLst>
              <a:ext uri="{FF2B5EF4-FFF2-40B4-BE49-F238E27FC236}">
                <a16:creationId xmlns:a16="http://schemas.microsoft.com/office/drawing/2014/main" id="{456935A7-E57C-2B12-DD73-1F5B82CC6A95}"/>
              </a:ext>
            </a:extLst>
          </p:cNvPr>
          <p:cNvSpPr>
            <a:spLocks noChangeArrowheads="1"/>
          </p:cNvSpPr>
          <p:nvPr/>
        </p:nvSpPr>
        <p:spPr bwMode="auto">
          <a:xfrm>
            <a:off x="-1984980" y="1849256"/>
            <a:ext cx="18769262"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0" rIns="45720" bIns="0" numCol="1" anchor="ctr" anchorCtr="0" compatLnSpc="1">
            <a:prstTxWarp prst="textNoShape">
              <a:avLst/>
            </a:prstTxWarp>
            <a:spAutoFit/>
          </a:bodyPr>
          <a:lstStyle/>
          <a:p>
            <a:pPr defTabSz="457200" eaLnBrk="0" fontAlgn="base" hangingPunct="0">
              <a:spcBef>
                <a:spcPct val="0"/>
              </a:spcBef>
              <a:spcAft>
                <a:spcPct val="0"/>
              </a:spcAft>
              <a:buClrTx/>
            </a:pPr>
            <a:endParaRPr lang="en-US" altLang="en-US" sz="900">
              <a:solidFill>
                <a:schemeClr val="tx1"/>
              </a:solidFill>
              <a:latin typeface="Arial" panose="020B0604020202020204" pitchFamily="34" charset="0"/>
            </a:endParaRPr>
          </a:p>
        </p:txBody>
      </p:sp>
      <p:sp>
        <p:nvSpPr>
          <p:cNvPr id="7" name="TextBox 6">
            <a:extLst>
              <a:ext uri="{FF2B5EF4-FFF2-40B4-BE49-F238E27FC236}">
                <a16:creationId xmlns:a16="http://schemas.microsoft.com/office/drawing/2014/main" id="{8CA76EA4-3DEE-255E-8993-89A567EEDA70}"/>
              </a:ext>
            </a:extLst>
          </p:cNvPr>
          <p:cNvSpPr txBox="1"/>
          <p:nvPr/>
        </p:nvSpPr>
        <p:spPr>
          <a:xfrm>
            <a:off x="2705725" y="2478480"/>
            <a:ext cx="9383842" cy="200055"/>
          </a:xfrm>
          <a:prstGeom prst="rect">
            <a:avLst/>
          </a:prstGeom>
          <a:noFill/>
        </p:spPr>
        <p:txBody>
          <a:bodyPr wrap="square">
            <a:spAutoFit/>
          </a:bodyPr>
          <a:lstStyle/>
          <a:p>
            <a:r>
              <a:rPr lang="en-IN" sz="700" dirty="0"/>
              <a:t> </a:t>
            </a:r>
          </a:p>
        </p:txBody>
      </p:sp>
      <p:pic>
        <p:nvPicPr>
          <p:cNvPr id="8" name="object 2" descr="A purple and orange text&#10;&#10;AI-generated content may be incorrect.">
            <a:extLst>
              <a:ext uri="{FF2B5EF4-FFF2-40B4-BE49-F238E27FC236}">
                <a16:creationId xmlns:a16="http://schemas.microsoft.com/office/drawing/2014/main" id="{1BDCC879-C057-316F-8B5B-348C98127CE7}"/>
              </a:ext>
            </a:extLst>
          </p:cNvPr>
          <p:cNvPicPr/>
          <p:nvPr/>
        </p:nvPicPr>
        <p:blipFill>
          <a:blip r:embed="rId2" cstate="print"/>
          <a:stretch>
            <a:fillRect/>
          </a:stretch>
        </p:blipFill>
        <p:spPr>
          <a:xfrm>
            <a:off x="7125809" y="79218"/>
            <a:ext cx="1903891" cy="582296"/>
          </a:xfrm>
          <a:prstGeom prst="rect">
            <a:avLst/>
          </a:prstGeom>
        </p:spPr>
      </p:pic>
    </p:spTree>
    <p:extLst>
      <p:ext uri="{BB962C8B-B14F-4D97-AF65-F5344CB8AC3E}">
        <p14:creationId xmlns:p14="http://schemas.microsoft.com/office/powerpoint/2010/main" val="34575674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829A2-A135-F38B-1312-2E8322BAE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11495-1874-E68A-75DE-04941906F755}"/>
              </a:ext>
            </a:extLst>
          </p:cNvPr>
          <p:cNvSpPr>
            <a:spLocks noGrp="1"/>
          </p:cNvSpPr>
          <p:nvPr>
            <p:ph type="title"/>
          </p:nvPr>
        </p:nvSpPr>
        <p:spPr>
          <a:xfrm>
            <a:off x="355933" y="148538"/>
            <a:ext cx="5039043" cy="439420"/>
          </a:xfrm>
        </p:spPr>
        <p:txBody>
          <a:bodyPr spcFirstLastPara="1" wrap="square" lIns="0" tIns="0" rIns="0" bIns="0" anchor="t" anchorCtr="0">
            <a:spAutoFit/>
          </a:bodyPr>
          <a:lstStyle/>
          <a:p>
            <a:r>
              <a:rPr lang="en-IN"/>
              <a:t>Literature Survey</a:t>
            </a:r>
          </a:p>
        </p:txBody>
      </p:sp>
      <p:graphicFrame>
        <p:nvGraphicFramePr>
          <p:cNvPr id="4" name="Table 3">
            <a:extLst>
              <a:ext uri="{FF2B5EF4-FFF2-40B4-BE49-F238E27FC236}">
                <a16:creationId xmlns:a16="http://schemas.microsoft.com/office/drawing/2014/main" id="{28BD226C-A773-536D-2B01-4F64FB17C273}"/>
              </a:ext>
            </a:extLst>
          </p:cNvPr>
          <p:cNvGraphicFramePr>
            <a:graphicFrameLocks noGrp="1"/>
          </p:cNvGraphicFramePr>
          <p:nvPr/>
        </p:nvGraphicFramePr>
        <p:xfrm>
          <a:off x="353485" y="663713"/>
          <a:ext cx="8435983" cy="3956806"/>
        </p:xfrm>
        <a:graphic>
          <a:graphicData uri="http://schemas.openxmlformats.org/drawingml/2006/table">
            <a:tbl>
              <a:tblPr/>
              <a:tblGrid>
                <a:gridCol w="294680">
                  <a:extLst>
                    <a:ext uri="{9D8B030D-6E8A-4147-A177-3AD203B41FA5}">
                      <a16:colId xmlns:a16="http://schemas.microsoft.com/office/drawing/2014/main" val="2689724784"/>
                    </a:ext>
                  </a:extLst>
                </a:gridCol>
                <a:gridCol w="1402169">
                  <a:extLst>
                    <a:ext uri="{9D8B030D-6E8A-4147-A177-3AD203B41FA5}">
                      <a16:colId xmlns:a16="http://schemas.microsoft.com/office/drawing/2014/main" val="198902510"/>
                    </a:ext>
                  </a:extLst>
                </a:gridCol>
                <a:gridCol w="826237">
                  <a:extLst>
                    <a:ext uri="{9D8B030D-6E8A-4147-A177-3AD203B41FA5}">
                      <a16:colId xmlns:a16="http://schemas.microsoft.com/office/drawing/2014/main" val="2738212169"/>
                    </a:ext>
                  </a:extLst>
                </a:gridCol>
                <a:gridCol w="816274">
                  <a:extLst>
                    <a:ext uri="{9D8B030D-6E8A-4147-A177-3AD203B41FA5}">
                      <a16:colId xmlns:a16="http://schemas.microsoft.com/office/drawing/2014/main" val="1424717554"/>
                    </a:ext>
                  </a:extLst>
                </a:gridCol>
                <a:gridCol w="1201693">
                  <a:extLst>
                    <a:ext uri="{9D8B030D-6E8A-4147-A177-3AD203B41FA5}">
                      <a16:colId xmlns:a16="http://schemas.microsoft.com/office/drawing/2014/main" val="2711302815"/>
                    </a:ext>
                  </a:extLst>
                </a:gridCol>
                <a:gridCol w="1298310">
                  <a:extLst>
                    <a:ext uri="{9D8B030D-6E8A-4147-A177-3AD203B41FA5}">
                      <a16:colId xmlns:a16="http://schemas.microsoft.com/office/drawing/2014/main" val="1708080542"/>
                    </a:ext>
                  </a:extLst>
                </a:gridCol>
                <a:gridCol w="1298310">
                  <a:extLst>
                    <a:ext uri="{9D8B030D-6E8A-4147-A177-3AD203B41FA5}">
                      <a16:colId xmlns:a16="http://schemas.microsoft.com/office/drawing/2014/main" val="1660274727"/>
                    </a:ext>
                  </a:extLst>
                </a:gridCol>
                <a:gridCol w="1298310">
                  <a:extLst>
                    <a:ext uri="{9D8B030D-6E8A-4147-A177-3AD203B41FA5}">
                      <a16:colId xmlns:a16="http://schemas.microsoft.com/office/drawing/2014/main" val="82878972"/>
                    </a:ext>
                  </a:extLst>
                </a:gridCol>
              </a:tblGrid>
              <a:tr h="586740">
                <a:tc>
                  <a:txBody>
                    <a:bodyPr/>
                    <a:lstStyle/>
                    <a:p>
                      <a:pPr rtl="0" fontAlgn="t">
                        <a:buNone/>
                      </a:pPr>
                      <a:r>
                        <a:rPr lang="en-IN" sz="1200">
                          <a:latin typeface="Times New Roman"/>
                        </a:rPr>
                        <a:t>Sr</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Title of the paper</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Year</a:t>
                      </a:r>
                      <a:endParaRPr lang="en-IN" sz="12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b="0" i="0" u="none" strike="noStrike">
                          <a:solidFill>
                            <a:srgbClr val="000000"/>
                          </a:solidFill>
                          <a:effectLst/>
                          <a:latin typeface="Times New Roman"/>
                        </a:rPr>
                        <a:t>Algorithm/ technique/ tools used</a:t>
                      </a:r>
                      <a:endParaRPr lang="en-IN" sz="1200" b="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Accuracy/ Result Achieved</a:t>
                      </a:r>
                      <a:endParaRPr lang="en-IN" sz="12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a:latin typeface="Times New Roman"/>
                        </a:rPr>
                        <a:t>Remarks</a:t>
                      </a:r>
                      <a:endParaRPr lang="en-IN" sz="12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a:latin typeface="Times New Roman"/>
                        </a:rPr>
                        <a:t>Shortcoming/Advantages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a:solidFill>
                        <a:srgbClr val="000000"/>
                      </a:solidFill>
                    </a:lnB>
                    <a:solidFill>
                      <a:srgbClr val="FFAB40"/>
                    </a:solidFill>
                  </a:tcPr>
                </a:tc>
                <a:tc>
                  <a:txBody>
                    <a:bodyPr/>
                    <a:lstStyle/>
                    <a:p>
                      <a:pPr lvl="0">
                        <a:buNone/>
                      </a:pPr>
                      <a:r>
                        <a:rPr lang="en-IN" sz="1200">
                          <a:latin typeface="Times New Roman"/>
                        </a:rPr>
                        <a:t>Link</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a:solidFill>
                        <a:srgbClr val="000000"/>
                      </a:solidFill>
                    </a:lnR>
                    <a:lnT w="10157" cap="flat" cmpd="sng" algn="ctr">
                      <a:solidFill>
                        <a:srgbClr val="000000"/>
                      </a:solidFill>
                      <a:prstDash val="solid"/>
                      <a:round/>
                      <a:headEnd type="none" w="med" len="med"/>
                      <a:tailEnd type="none" w="med" len="med"/>
                    </a:lnT>
                    <a:lnB w="10157">
                      <a:solidFill>
                        <a:srgbClr val="000000"/>
                      </a:solidFill>
                    </a:lnB>
                    <a:solidFill>
                      <a:srgbClr val="FFAB40"/>
                    </a:solidFill>
                  </a:tcPr>
                </a:tc>
                <a:extLst>
                  <a:ext uri="{0D108BD9-81ED-4DB2-BD59-A6C34878D82A}">
                    <a16:rowId xmlns:a16="http://schemas.microsoft.com/office/drawing/2014/main" val="1137531577"/>
                  </a:ext>
                </a:extLst>
              </a:tr>
              <a:tr h="952500">
                <a:tc>
                  <a:txBody>
                    <a:bodyPr/>
                    <a:lstStyle/>
                    <a:p>
                      <a:pPr rtl="0" fontAlgn="t">
                        <a:buNone/>
                      </a:pPr>
                      <a:r>
                        <a:rPr lang="en-IN" sz="1400" b="0" i="0" u="none" strike="noStrike">
                          <a:solidFill>
                            <a:srgbClr val="000000"/>
                          </a:solidFill>
                          <a:effectLst/>
                          <a:latin typeface="Times New Roman"/>
                        </a:rPr>
                        <a:t>5.</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Voice-Based AI in Call Center Customer Service: A Natural Field Experiment</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b="0" i="0" u="none" strike="noStrike" dirty="0">
                          <a:solidFill>
                            <a:srgbClr val="000000"/>
                          </a:solidFill>
                          <a:effectLst/>
                          <a:latin typeface="Times New Roman"/>
                        </a:rPr>
                        <a:t>2024</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b="0" i="0" u="none" strike="noStrike" noProof="0">
                          <a:solidFill>
                            <a:srgbClr val="000000"/>
                          </a:solidFill>
                          <a:effectLst/>
                          <a:latin typeface="Times New Roman"/>
                        </a:rPr>
                        <a:t>Voice AI vs Human (A/B test)</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a:solidFill>
                            <a:srgbClr val="000000"/>
                          </a:solidFill>
                          <a:effectLst/>
                          <a:latin typeface="Times New Roman"/>
                        </a:rPr>
                        <a:t>~12% efficiency + CSAT boost</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a:solidFill>
                            <a:srgbClr val="000000"/>
                          </a:solidFill>
                          <a:effectLst/>
                          <a:latin typeface="Times New Roman"/>
                        </a:rPr>
                        <a:t>Real-world service experiment</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Limited sample</a:t>
                      </a:r>
                      <a:endParaRPr lang="en-US" sz="1200">
                        <a:latin typeface="Times New Roman"/>
                      </a:endParaRPr>
                    </a:p>
                    <a:p>
                      <a:pPr lvl="0">
                        <a:buNone/>
                      </a:pPr>
                      <a:r>
                        <a:rPr lang="en-US" sz="1200" b="0" i="0" u="none" strike="noStrike" noProof="0">
                          <a:solidFill>
                            <a:srgbClr val="000000"/>
                          </a:solidFill>
                          <a:effectLst/>
                          <a:latin typeface="Times New Roman"/>
                        </a:rPr>
                        <a:t>Real deployment</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AB40"/>
                    </a:solidFill>
                  </a:tcPr>
                </a:tc>
                <a:tc>
                  <a:txBody>
                    <a:bodyPr/>
                    <a:lstStyle/>
                    <a:p>
                      <a:pPr lvl="0">
                        <a:buNone/>
                      </a:pPr>
                      <a:r>
                        <a:rPr lang="en-US" sz="1200" b="0" i="0" u="none" strike="noStrike" noProof="0">
                          <a:solidFill>
                            <a:srgbClr val="000000"/>
                          </a:solidFill>
                          <a:effectLst/>
                          <a:latin typeface="Times New Roman"/>
                        </a:rPr>
                        <a:t>wiley.com/doi/abs/10.1111/poms.13953</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AB40"/>
                    </a:solidFill>
                  </a:tcPr>
                </a:tc>
                <a:extLst>
                  <a:ext uri="{0D108BD9-81ED-4DB2-BD59-A6C34878D82A}">
                    <a16:rowId xmlns:a16="http://schemas.microsoft.com/office/drawing/2014/main" val="1524407547"/>
                  </a:ext>
                </a:extLst>
              </a:tr>
              <a:tr h="769619">
                <a:tc>
                  <a:txBody>
                    <a:bodyPr/>
                    <a:lstStyle/>
                    <a:p>
                      <a:pPr rtl="0" fontAlgn="t">
                        <a:buNone/>
                      </a:pPr>
                      <a:r>
                        <a:rPr lang="en-IN" sz="1400" b="0" i="0" u="none" strike="noStrike">
                          <a:solidFill>
                            <a:srgbClr val="000000"/>
                          </a:solidFill>
                          <a:effectLst/>
                          <a:latin typeface="Times New Roman"/>
                        </a:rPr>
                        <a:t>6.</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IN" sz="1200" b="0" i="0" u="none" strike="noStrike" noProof="0" dirty="0">
                          <a:solidFill>
                            <a:srgbClr val="000000"/>
                          </a:solidFill>
                          <a:effectLst/>
                          <a:latin typeface="Times New Roman"/>
                        </a:rPr>
                        <a:t>AI-Based Call </a:t>
                      </a:r>
                      <a:r>
                        <a:rPr lang="en-IN" sz="1200" b="0" i="0" u="none" strike="noStrike" noProof="0" dirty="0" err="1">
                          <a:solidFill>
                            <a:srgbClr val="000000"/>
                          </a:solidFill>
                          <a:effectLst/>
                          <a:latin typeface="Times New Roman"/>
                        </a:rPr>
                        <a:t>Center</a:t>
                      </a:r>
                      <a:r>
                        <a:rPr lang="en-IN" sz="1200" b="0" i="0" u="none" strike="noStrike" noProof="0" dirty="0">
                          <a:solidFill>
                            <a:srgbClr val="000000"/>
                          </a:solidFill>
                          <a:effectLst/>
                          <a:latin typeface="Times New Roman"/>
                        </a:rPr>
                        <a:t> Management</a:t>
                      </a:r>
                      <a:endParaRPr lang="en-US" sz="1200" dirty="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IN" sz="1200" b="0" i="0" u="none" strike="noStrike" dirty="0">
                          <a:solidFill>
                            <a:srgbClr val="000000"/>
                          </a:solidFill>
                          <a:effectLst/>
                          <a:latin typeface="Times New Roman"/>
                        </a:rPr>
                        <a:t>2024</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latin typeface="Times New Roman"/>
                        </a:rPr>
                        <a:t>IVR, facial recognition, dashboards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N/A (design blueprint)</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latin typeface="Times New Roman"/>
                        </a:rPr>
                        <a:t>Backend + workforce AI design</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lgn="l">
                        <a:lnSpc>
                          <a:spcPct val="100000"/>
                        </a:lnSpc>
                        <a:spcBef>
                          <a:spcPts val="0"/>
                        </a:spcBef>
                        <a:spcAft>
                          <a:spcPts val="0"/>
                        </a:spcAft>
                        <a:buNone/>
                      </a:pPr>
                      <a:r>
                        <a:rPr lang="en-US" sz="1200" b="0" i="0" u="none" strike="noStrike" noProof="0">
                          <a:latin typeface="Times New Roman"/>
                        </a:rPr>
                        <a:t>Not tested</a:t>
                      </a:r>
                      <a:endParaRPr lang="en-US" sz="1200">
                        <a:latin typeface="Times New Roman"/>
                      </a:endParaRPr>
                    </a:p>
                    <a:p>
                      <a:pPr lvl="0">
                        <a:buNone/>
                      </a:pPr>
                      <a:r>
                        <a:rPr lang="en-US" sz="1200" b="0" i="0" u="none" strike="noStrike" noProof="0">
                          <a:latin typeface="Times New Roman"/>
                        </a:rPr>
                        <a:t> Holistic plan</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D17D"/>
                    </a:solidFill>
                  </a:tcPr>
                </a:tc>
                <a:tc>
                  <a:txBody>
                    <a:bodyPr/>
                    <a:lstStyle/>
                    <a:p>
                      <a:pPr lvl="0">
                        <a:buNone/>
                      </a:pPr>
                      <a:r>
                        <a:rPr lang="en-US" sz="1200" b="0" i="0" u="none" strike="noStrike" noProof="0">
                          <a:latin typeface="Times New Roman"/>
                        </a:rPr>
                        <a:t>journals.orclever.com/ejrnd/article/download/593/340/1406</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D17D"/>
                    </a:solidFill>
                  </a:tcPr>
                </a:tc>
                <a:extLst>
                  <a:ext uri="{0D108BD9-81ED-4DB2-BD59-A6C34878D82A}">
                    <a16:rowId xmlns:a16="http://schemas.microsoft.com/office/drawing/2014/main" val="2614279485"/>
                  </a:ext>
                </a:extLst>
              </a:tr>
              <a:tr h="878326">
                <a:tc>
                  <a:txBody>
                    <a:bodyPr/>
                    <a:lstStyle/>
                    <a:p>
                      <a:pPr rtl="0" fontAlgn="t">
                        <a:buNone/>
                      </a:pPr>
                      <a:r>
                        <a:rPr lang="en-IN" sz="1400" b="0" i="0" u="none" strike="noStrike">
                          <a:solidFill>
                            <a:srgbClr val="000000"/>
                          </a:solidFill>
                          <a:effectLst/>
                          <a:latin typeface="Times New Roman"/>
                        </a:rPr>
                        <a:t>7.</a:t>
                      </a:r>
                      <a:endParaRPr lang="en-IN" sz="1400">
                        <a:effectLst/>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IN" sz="1200" b="0" i="0" u="none" strike="noStrike" noProof="0">
                          <a:solidFill>
                            <a:srgbClr val="000000"/>
                          </a:solidFill>
                          <a:effectLst/>
                          <a:latin typeface="Times New Roman"/>
                        </a:rPr>
                        <a:t>A Review of NLP in Contact Centre Automation</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rtl="0" fontAlgn="t">
                        <a:buNone/>
                      </a:pPr>
                      <a:r>
                        <a:rPr lang="en-IN" sz="1200" b="0" i="0" u="none" strike="noStrike">
                          <a:solidFill>
                            <a:srgbClr val="000000"/>
                          </a:solidFill>
                          <a:effectLst/>
                          <a:latin typeface="Times New Roman"/>
                        </a:rPr>
                        <a:t>2023</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indent="0">
                        <a:buNone/>
                      </a:pPr>
                      <a:r>
                        <a:rPr lang="en-IN" sz="1200" b="0" i="0" u="none" strike="noStrike" noProof="0">
                          <a:solidFill>
                            <a:srgbClr val="000000"/>
                          </a:solidFill>
                          <a:effectLst/>
                          <a:latin typeface="Times New Roman"/>
                        </a:rPr>
                        <a:t>NLP for routing, summarization</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a:solidFill>
                            <a:srgbClr val="000000"/>
                          </a:solidFill>
                          <a:effectLst/>
                          <a:latin typeface="Times New Roman"/>
                        </a:rPr>
                        <a:t>Varies per task</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buNone/>
                      </a:pPr>
                      <a:r>
                        <a:rPr lang="en-US" sz="1200" b="0" i="0" u="none" strike="noStrike" noProof="0">
                          <a:solidFill>
                            <a:srgbClr val="000000"/>
                          </a:solidFill>
                          <a:effectLst/>
                          <a:latin typeface="Times New Roman"/>
                        </a:rPr>
                        <a:t>Comprehensive NLP survey for contact centers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AB40"/>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No new method</a:t>
                      </a:r>
                      <a:endParaRPr lang="en-US" sz="1200">
                        <a:latin typeface="Times New Roman"/>
                      </a:endParaRPr>
                    </a:p>
                    <a:p>
                      <a:pPr lvl="0">
                        <a:buNone/>
                      </a:pPr>
                      <a:r>
                        <a:rPr lang="en-US" sz="1200" b="0" i="0" u="none" strike="noStrike" noProof="0">
                          <a:solidFill>
                            <a:srgbClr val="000000"/>
                          </a:solidFill>
                          <a:effectLst/>
                          <a:latin typeface="Times New Roman"/>
                        </a:rPr>
                        <a:t> Solid foundation</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AB40"/>
                    </a:solidFill>
                  </a:tcPr>
                </a:tc>
                <a:tc>
                  <a:txBody>
                    <a:bodyPr/>
                    <a:lstStyle/>
                    <a:p>
                      <a:pPr lvl="0">
                        <a:buNone/>
                      </a:pPr>
                      <a:r>
                        <a:rPr lang="en-US" sz="1200" b="0" i="0" u="none" strike="noStrike" noProof="0">
                          <a:solidFill>
                            <a:srgbClr val="000000"/>
                          </a:solidFill>
                          <a:effectLst/>
                          <a:latin typeface="Times New Roman"/>
                        </a:rPr>
                        <a:t>link.springer.com/article/10.1007/s10044-023-01182-8</a:t>
                      </a:r>
                      <a:endParaRPr lang="en-US" sz="120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AB40"/>
                    </a:solidFill>
                  </a:tcPr>
                </a:tc>
                <a:extLst>
                  <a:ext uri="{0D108BD9-81ED-4DB2-BD59-A6C34878D82A}">
                    <a16:rowId xmlns:a16="http://schemas.microsoft.com/office/drawing/2014/main" val="78942684"/>
                  </a:ext>
                </a:extLst>
              </a:tr>
              <a:tr h="769620">
                <a:tc>
                  <a:txBody>
                    <a:bodyPr/>
                    <a:lstStyle/>
                    <a:p>
                      <a:pPr rtl="0" fontAlgn="t">
                        <a:buNone/>
                      </a:pPr>
                      <a:r>
                        <a:rPr lang="en-IN" sz="1400" b="0" i="0" u="none" strike="noStrike">
                          <a:solidFill>
                            <a:srgbClr val="000000"/>
                          </a:solidFill>
                          <a:effectLst/>
                          <a:latin typeface="Times New Roman"/>
                        </a:rPr>
                        <a:t>8.</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IN" sz="1200" b="0" i="0" u="none" strike="noStrike" noProof="0">
                          <a:solidFill>
                            <a:srgbClr val="000000"/>
                          </a:solidFill>
                          <a:effectLst/>
                          <a:latin typeface="Times New Roman"/>
                        </a:rPr>
                        <a:t>IVR Systems in Call Center Management – Scientometric Analysis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rtl="0" fontAlgn="t">
                        <a:buNone/>
                      </a:pPr>
                      <a:r>
                        <a:rPr lang="en-IN" sz="1200" b="0" i="0" u="none" strike="noStrike" dirty="0">
                          <a:solidFill>
                            <a:srgbClr val="000000"/>
                          </a:solidFill>
                          <a:effectLst/>
                          <a:latin typeface="Times New Roman"/>
                        </a:rPr>
                        <a:t>2023</a:t>
                      </a: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IVR, ASR, mapping tools</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N/A (trend-focused)</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buNone/>
                      </a:pPr>
                      <a:r>
                        <a:rPr lang="en-US" sz="1200" b="0" i="0" u="none" strike="noStrike" noProof="0">
                          <a:solidFill>
                            <a:srgbClr val="000000"/>
                          </a:solidFill>
                          <a:effectLst/>
                          <a:latin typeface="Times New Roman"/>
                        </a:rPr>
                        <a:t>Tracks global research direction</a:t>
                      </a:r>
                      <a:endParaRPr lang="en-US" sz="1200">
                        <a:latin typeface="Times New Roman"/>
                      </a:endParaRPr>
                    </a:p>
                  </a:txBody>
                  <a:tcPr marL="38100" marR="38100" marT="19050" marB="1905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solidFill>
                      <a:srgbClr val="FFD17D"/>
                    </a:solidFill>
                  </a:tcPr>
                </a:tc>
                <a:tc>
                  <a:txBody>
                    <a:bodyPr/>
                    <a:lstStyle/>
                    <a:p>
                      <a:pPr lvl="0" algn="l">
                        <a:lnSpc>
                          <a:spcPct val="100000"/>
                        </a:lnSpc>
                        <a:spcBef>
                          <a:spcPts val="0"/>
                        </a:spcBef>
                        <a:spcAft>
                          <a:spcPts val="0"/>
                        </a:spcAft>
                        <a:buNone/>
                      </a:pPr>
                      <a:r>
                        <a:rPr lang="en-US" sz="1200" b="0" i="0" u="none" strike="noStrike" noProof="0">
                          <a:solidFill>
                            <a:srgbClr val="000000"/>
                          </a:solidFill>
                          <a:effectLst/>
                          <a:latin typeface="Times New Roman"/>
                        </a:rPr>
                        <a:t>Meta-only</a:t>
                      </a:r>
                      <a:endParaRPr lang="en-US" sz="1200">
                        <a:latin typeface="Times New Roman"/>
                      </a:endParaRPr>
                    </a:p>
                    <a:p>
                      <a:pPr lvl="0">
                        <a:buNone/>
                      </a:pPr>
                      <a:r>
                        <a:rPr lang="en-US" sz="1200" b="0" i="0" u="none" strike="noStrike" noProof="0">
                          <a:solidFill>
                            <a:srgbClr val="000000"/>
                          </a:solidFill>
                          <a:effectLst/>
                          <a:latin typeface="Times New Roman"/>
                        </a:rPr>
                        <a:t> Research map</a:t>
                      </a:r>
                      <a:endParaRPr lang="en-US" sz="1200">
                        <a:latin typeface="Times New Roman"/>
                      </a:endParaRPr>
                    </a:p>
                  </a:txBody>
                  <a:tcPr marL="38100" marR="38100" marT="19050" marB="19050">
                    <a:lnL w="10157">
                      <a:solidFill>
                        <a:srgbClr val="000000"/>
                      </a:solidFill>
                    </a:lnL>
                    <a:lnR w="10157" cap="flat" cmpd="sng" algn="ctr">
                      <a:solidFill>
                        <a:srgbClr val="000000"/>
                      </a:solidFill>
                      <a:prstDash val="solid"/>
                      <a:round/>
                      <a:headEnd type="none" w="med" len="med"/>
                      <a:tailEnd type="none" w="med" len="med"/>
                    </a:lnR>
                    <a:lnT w="10157">
                      <a:solidFill>
                        <a:srgbClr val="000000"/>
                      </a:solidFill>
                    </a:lnT>
                    <a:lnB w="10157">
                      <a:solidFill>
                        <a:srgbClr val="000000"/>
                      </a:solidFill>
                    </a:lnB>
                    <a:solidFill>
                      <a:srgbClr val="FFD17D"/>
                    </a:solidFill>
                  </a:tcPr>
                </a:tc>
                <a:tc>
                  <a:txBody>
                    <a:bodyPr/>
                    <a:lstStyle/>
                    <a:p>
                      <a:pPr lvl="0">
                        <a:buNone/>
                      </a:pPr>
                      <a:r>
                        <a:rPr lang="en-US" sz="1200" b="0" i="0" u="none" strike="noStrike" noProof="0" dirty="0">
                          <a:solidFill>
                            <a:srgbClr val="000000"/>
                          </a:solidFill>
                          <a:effectLst/>
                          <a:latin typeface="Times New Roman"/>
                        </a:rPr>
                        <a:t>frontiersin.org/articles/10.3389/fcomp.2025.1459787/full</a:t>
                      </a:r>
                      <a:endParaRPr lang="en-US" sz="1200" dirty="0">
                        <a:latin typeface="Times New Roman"/>
                      </a:endParaRPr>
                    </a:p>
                  </a:txBody>
                  <a:tcPr marL="38100" marR="38100" marT="19050" marB="19050">
                    <a:lnL w="10157">
                      <a:solidFill>
                        <a:srgbClr val="000000"/>
                      </a:solidFill>
                    </a:lnL>
                    <a:lnR w="10157">
                      <a:solidFill>
                        <a:srgbClr val="000000"/>
                      </a:solidFill>
                    </a:lnR>
                    <a:lnT w="10157">
                      <a:solidFill>
                        <a:srgbClr val="000000"/>
                      </a:solidFill>
                    </a:lnT>
                    <a:lnB w="10157">
                      <a:solidFill>
                        <a:srgbClr val="000000"/>
                      </a:solidFill>
                    </a:lnB>
                    <a:solidFill>
                      <a:srgbClr val="FFD17D"/>
                    </a:solidFill>
                  </a:tcPr>
                </a:tc>
                <a:extLst>
                  <a:ext uri="{0D108BD9-81ED-4DB2-BD59-A6C34878D82A}">
                    <a16:rowId xmlns:a16="http://schemas.microsoft.com/office/drawing/2014/main" val="3102494858"/>
                  </a:ext>
                </a:extLst>
              </a:tr>
            </a:tbl>
          </a:graphicData>
        </a:graphic>
      </p:graphicFrame>
      <p:sp>
        <p:nvSpPr>
          <p:cNvPr id="5" name="Rectangle 1">
            <a:extLst>
              <a:ext uri="{FF2B5EF4-FFF2-40B4-BE49-F238E27FC236}">
                <a16:creationId xmlns:a16="http://schemas.microsoft.com/office/drawing/2014/main" id="{72D824BB-390B-1C9A-8223-BC211D18CFEA}"/>
              </a:ext>
            </a:extLst>
          </p:cNvPr>
          <p:cNvSpPr>
            <a:spLocks noChangeArrowheads="1"/>
          </p:cNvSpPr>
          <p:nvPr/>
        </p:nvSpPr>
        <p:spPr bwMode="auto">
          <a:xfrm>
            <a:off x="-1984980" y="1849256"/>
            <a:ext cx="18769262"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0" rIns="45720" bIns="0" numCol="1" anchor="ctr" anchorCtr="0" compatLnSpc="1">
            <a:prstTxWarp prst="textNoShape">
              <a:avLst/>
            </a:prstTxWarp>
            <a:spAutoFit/>
          </a:bodyPr>
          <a:lstStyle/>
          <a:p>
            <a:pPr defTabSz="457200" eaLnBrk="0" fontAlgn="base" hangingPunct="0">
              <a:spcBef>
                <a:spcPct val="0"/>
              </a:spcBef>
              <a:spcAft>
                <a:spcPct val="0"/>
              </a:spcAft>
              <a:buClrTx/>
            </a:pPr>
            <a:endParaRPr lang="en-US" altLang="en-US" sz="900">
              <a:solidFill>
                <a:schemeClr val="tx1"/>
              </a:solidFill>
              <a:latin typeface="Arial" panose="020B0604020202020204" pitchFamily="34" charset="0"/>
            </a:endParaRPr>
          </a:p>
        </p:txBody>
      </p:sp>
      <p:sp>
        <p:nvSpPr>
          <p:cNvPr id="7" name="TextBox 6">
            <a:extLst>
              <a:ext uri="{FF2B5EF4-FFF2-40B4-BE49-F238E27FC236}">
                <a16:creationId xmlns:a16="http://schemas.microsoft.com/office/drawing/2014/main" id="{52A51CB9-FE36-9CDD-86AE-0DC780ECA6A6}"/>
              </a:ext>
            </a:extLst>
          </p:cNvPr>
          <p:cNvSpPr txBox="1"/>
          <p:nvPr/>
        </p:nvSpPr>
        <p:spPr>
          <a:xfrm>
            <a:off x="2705725" y="2478480"/>
            <a:ext cx="9383842" cy="200055"/>
          </a:xfrm>
          <a:prstGeom prst="rect">
            <a:avLst/>
          </a:prstGeom>
          <a:noFill/>
        </p:spPr>
        <p:txBody>
          <a:bodyPr wrap="square">
            <a:spAutoFit/>
          </a:bodyPr>
          <a:lstStyle/>
          <a:p>
            <a:r>
              <a:rPr lang="en-IN" sz="700"/>
              <a:t> </a:t>
            </a:r>
          </a:p>
        </p:txBody>
      </p:sp>
      <p:pic>
        <p:nvPicPr>
          <p:cNvPr id="8" name="object 2" descr="A purple and orange text&#10;&#10;AI-generated content may be incorrect.">
            <a:extLst>
              <a:ext uri="{FF2B5EF4-FFF2-40B4-BE49-F238E27FC236}">
                <a16:creationId xmlns:a16="http://schemas.microsoft.com/office/drawing/2014/main" id="{B7E50FD1-1F93-ACCF-4B80-88654E3ABB32}"/>
              </a:ext>
            </a:extLst>
          </p:cNvPr>
          <p:cNvPicPr/>
          <p:nvPr/>
        </p:nvPicPr>
        <p:blipFill>
          <a:blip r:embed="rId2" cstate="print"/>
          <a:stretch>
            <a:fillRect/>
          </a:stretch>
        </p:blipFill>
        <p:spPr>
          <a:xfrm>
            <a:off x="7125809" y="79218"/>
            <a:ext cx="1903891" cy="582296"/>
          </a:xfrm>
          <a:prstGeom prst="rect">
            <a:avLst/>
          </a:prstGeom>
        </p:spPr>
      </p:pic>
    </p:spTree>
    <p:extLst>
      <p:ext uri="{BB962C8B-B14F-4D97-AF65-F5344CB8AC3E}">
        <p14:creationId xmlns:p14="http://schemas.microsoft.com/office/powerpoint/2010/main" val="372875114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5173A-3405-A755-32B0-D286CFAE955E}"/>
              </a:ext>
            </a:extLst>
          </p:cNvPr>
          <p:cNvSpPr>
            <a:spLocks noGrp="1"/>
          </p:cNvSpPr>
          <p:nvPr>
            <p:ph type="title"/>
          </p:nvPr>
        </p:nvSpPr>
        <p:spPr>
          <a:xfrm>
            <a:off x="3299698" y="256368"/>
            <a:ext cx="2257024" cy="439420"/>
          </a:xfrm>
        </p:spPr>
        <p:txBody>
          <a:bodyPr/>
          <a:lstStyle/>
          <a:p>
            <a:r>
              <a:rPr lang="en-IN" dirty="0"/>
              <a:t>Methodology </a:t>
            </a:r>
          </a:p>
        </p:txBody>
      </p:sp>
      <p:sp>
        <p:nvSpPr>
          <p:cNvPr id="3" name="Text Placeholder 2">
            <a:extLst>
              <a:ext uri="{FF2B5EF4-FFF2-40B4-BE49-F238E27FC236}">
                <a16:creationId xmlns:a16="http://schemas.microsoft.com/office/drawing/2014/main" id="{3B3D4E94-93D9-B466-8C23-7F2732C00808}"/>
              </a:ext>
            </a:extLst>
          </p:cNvPr>
          <p:cNvSpPr>
            <a:spLocks noGrp="1"/>
          </p:cNvSpPr>
          <p:nvPr>
            <p:ph type="body" idx="1"/>
          </p:nvPr>
        </p:nvSpPr>
        <p:spPr>
          <a:xfrm>
            <a:off x="310134" y="870555"/>
            <a:ext cx="8523731" cy="3877985"/>
          </a:xfrm>
        </p:spPr>
        <p:txBody>
          <a:bodyPr>
            <a:noAutofit/>
          </a:bodyPr>
          <a:lstStyle/>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Voice Input: </a:t>
            </a:r>
            <a:r>
              <a:rPr lang="en-US" sz="1600" dirty="0">
                <a:latin typeface="Times New Roman" panose="02020603050405020304" pitchFamily="18" charset="0"/>
                <a:cs typeface="Times New Roman" panose="02020603050405020304" pitchFamily="18" charset="0"/>
              </a:rPr>
              <a:t>The user simply talks through a phone call or browser. Their voice is captured using Vapi.ai or </a:t>
            </a:r>
            <a:r>
              <a:rPr lang="en-US" sz="1600" dirty="0" err="1">
                <a:latin typeface="Times New Roman" panose="02020603050405020304" pitchFamily="18" charset="0"/>
                <a:cs typeface="Times New Roman" panose="02020603050405020304" pitchFamily="18" charset="0"/>
              </a:rPr>
              <a:t>Exotel</a:t>
            </a:r>
            <a:r>
              <a:rPr lang="en-US" sz="1600" dirty="0">
                <a:latin typeface="Times New Roman" panose="02020603050405020304" pitchFamily="18" charset="0"/>
                <a:cs typeface="Times New Roman" panose="02020603050405020304" pitchFamily="18" charset="0"/>
              </a:rPr>
              <a:t> in real time.</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Speech Recognition &amp; Language Detection: </a:t>
            </a:r>
            <a:r>
              <a:rPr lang="en-US" sz="1600" dirty="0">
                <a:latin typeface="Times New Roman" panose="02020603050405020304" pitchFamily="18" charset="0"/>
                <a:cs typeface="Times New Roman" panose="02020603050405020304" pitchFamily="18" charset="0"/>
              </a:rPr>
              <a:t>The system turns the voice into text instantly. It also figures out which language the user is speaking.</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Translation (if needed): </a:t>
            </a:r>
            <a:r>
              <a:rPr lang="en-US" sz="1600" dirty="0">
                <a:latin typeface="Times New Roman" panose="02020603050405020304" pitchFamily="18" charset="0"/>
                <a:cs typeface="Times New Roman" panose="02020603050405020304" pitchFamily="18" charset="0"/>
              </a:rPr>
              <a:t>If the user spoke in a regional language, it’s translated to English. This helps the system understand everything better.</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Intent Detection: </a:t>
            </a:r>
            <a:r>
              <a:rPr lang="en-US" sz="1600" dirty="0">
                <a:latin typeface="Times New Roman" panose="02020603050405020304" pitchFamily="18" charset="0"/>
                <a:cs typeface="Times New Roman" panose="02020603050405020304" pitchFamily="18" charset="0"/>
              </a:rPr>
              <a:t>The AI (</a:t>
            </a:r>
            <a:r>
              <a:rPr lang="en-US" sz="1600" dirty="0" err="1">
                <a:latin typeface="Times New Roman" panose="02020603050405020304" pitchFamily="18" charset="0"/>
                <a:cs typeface="Times New Roman" panose="02020603050405020304" pitchFamily="18" charset="0"/>
              </a:rPr>
              <a:t>Ollama</a:t>
            </a:r>
            <a:r>
              <a:rPr lang="en-US" sz="1600" dirty="0">
                <a:latin typeface="Times New Roman" panose="02020603050405020304" pitchFamily="18" charset="0"/>
                <a:cs typeface="Times New Roman" panose="02020603050405020304" pitchFamily="18" charset="0"/>
              </a:rPr>
              <a:t> LLM) reads the message and understands the request. It knows whether the user wants to book, or ask something.</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Response Translation + TTS: </a:t>
            </a:r>
            <a:r>
              <a:rPr lang="en-US" sz="1600" dirty="0">
                <a:latin typeface="Times New Roman" panose="02020603050405020304" pitchFamily="18" charset="0"/>
                <a:cs typeface="Times New Roman" panose="02020603050405020304" pitchFamily="18" charset="0"/>
              </a:rPr>
              <a:t>The reply is translated back to the user's language if needed. Then, it's spoken out loud using a natural voice assistant.</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Task Execution: </a:t>
            </a:r>
            <a:r>
              <a:rPr lang="en-US" sz="1600" dirty="0">
                <a:latin typeface="Times New Roman" panose="02020603050405020304" pitchFamily="18" charset="0"/>
                <a:cs typeface="Times New Roman" panose="02020603050405020304" pitchFamily="18" charset="0"/>
              </a:rPr>
              <a:t>Behind the scenes, it carries out tasks like bookings or CRM updates. This is handled through Microsoft Power Automate.</a:t>
            </a:r>
          </a:p>
          <a:p>
            <a:pPr marL="228600" indent="-228600">
              <a:buFont typeface="+mj-lt"/>
              <a:buAutoNum type="arabicPeriod"/>
            </a:pPr>
            <a:r>
              <a:rPr lang="en-US" sz="1600" b="1" dirty="0">
                <a:latin typeface="Times New Roman" panose="02020603050405020304" pitchFamily="18" charset="0"/>
                <a:cs typeface="Times New Roman" panose="02020603050405020304" pitchFamily="18" charset="0"/>
              </a:rPr>
              <a:t>Data Logging: </a:t>
            </a:r>
            <a:r>
              <a:rPr lang="en-US" sz="1600" dirty="0">
                <a:latin typeface="Times New Roman" panose="02020603050405020304" pitchFamily="18" charset="0"/>
                <a:cs typeface="Times New Roman" panose="02020603050405020304" pitchFamily="18" charset="0"/>
              </a:rPr>
              <a:t>Everything is saved securely — voice, intent, and details. Stored in Microsoft Dataverse to keep records and improve service.</a:t>
            </a:r>
          </a:p>
          <a:p>
            <a:endParaRPr lang="en-IN" sz="1400" dirty="0">
              <a:latin typeface="Times New Roman" panose="02020603050405020304" pitchFamily="18" charset="0"/>
              <a:cs typeface="Times New Roman" panose="02020603050405020304" pitchFamily="18" charset="0"/>
            </a:endParaRPr>
          </a:p>
        </p:txBody>
      </p:sp>
      <p:pic>
        <p:nvPicPr>
          <p:cNvPr id="4" name="object 2">
            <a:extLst>
              <a:ext uri="{FF2B5EF4-FFF2-40B4-BE49-F238E27FC236}">
                <a16:creationId xmlns:a16="http://schemas.microsoft.com/office/drawing/2014/main" id="{CB0C1318-DA62-B736-DED3-A7A67AF76C97}"/>
              </a:ext>
            </a:extLst>
          </p:cNvPr>
          <p:cNvPicPr/>
          <p:nvPr/>
        </p:nvPicPr>
        <p:blipFill>
          <a:blip r:embed="rId2" cstate="print"/>
          <a:stretch>
            <a:fillRect/>
          </a:stretch>
        </p:blipFill>
        <p:spPr>
          <a:xfrm>
            <a:off x="7125809" y="79218"/>
            <a:ext cx="1887236" cy="791337"/>
          </a:xfrm>
          <a:prstGeom prst="rect">
            <a:avLst/>
          </a:prstGeom>
        </p:spPr>
      </p:pic>
    </p:spTree>
    <p:extLst>
      <p:ext uri="{BB962C8B-B14F-4D97-AF65-F5344CB8AC3E}">
        <p14:creationId xmlns:p14="http://schemas.microsoft.com/office/powerpoint/2010/main" val="19763907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idx="4294967295"/>
          </p:nvPr>
        </p:nvSpPr>
        <p:spPr>
          <a:xfrm>
            <a:off x="2364493" y="197150"/>
            <a:ext cx="3315600" cy="761700"/>
          </a:xfrm>
          <a:prstGeom prst="rect">
            <a:avLst/>
          </a:prstGeom>
        </p:spPr>
        <p:txBody>
          <a:bodyPr spcFirstLastPara="1" wrap="square" lIns="91425" tIns="91425" rIns="91425" bIns="91425" anchor="ctr" anchorCtr="0">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Module Description</a:t>
            </a:r>
            <a:br>
              <a:rPr lang="en-US" b="1" dirty="0">
                <a:solidFill>
                  <a:schemeClr val="tx1"/>
                </a:solidFill>
                <a:latin typeface="Times New Roman" panose="02020603050405020304" pitchFamily="18" charset="0"/>
                <a:cs typeface="Times New Roman" panose="02020603050405020304" pitchFamily="18" charset="0"/>
              </a:rPr>
            </a:br>
            <a:endParaRPr b="1" dirty="0">
              <a:solidFill>
                <a:schemeClr val="tx1"/>
              </a:solidFill>
              <a:latin typeface="Montserrat"/>
              <a:ea typeface="Montserrat"/>
              <a:cs typeface="Montserrat"/>
              <a:sym typeface="Montserrat"/>
            </a:endParaRPr>
          </a:p>
        </p:txBody>
      </p:sp>
      <p:sp>
        <p:nvSpPr>
          <p:cNvPr id="120" name="Google Shape;120;p20"/>
          <p:cNvSpPr txBox="1">
            <a:spLocks noGrp="1"/>
          </p:cNvSpPr>
          <p:nvPr>
            <p:ph type="body" idx="4294967295"/>
          </p:nvPr>
        </p:nvSpPr>
        <p:spPr>
          <a:xfrm flipH="1" flipV="1">
            <a:off x="8006326" y="6159770"/>
            <a:ext cx="45719" cy="45719"/>
          </a:xfrm>
          <a:prstGeom prst="rect">
            <a:avLst/>
          </a:prstGeom>
        </p:spPr>
        <p:txBody>
          <a:bodyPr spcFirstLastPara="1" wrap="square" lIns="91425" tIns="91425" rIns="91425" bIns="91425" anchor="t" anchorCtr="0">
            <a:normAutofit fontScale="25000" lnSpcReduction="20000"/>
          </a:bodyPr>
          <a:lstStyle/>
          <a:p>
            <a:pPr marL="114300" indent="0">
              <a:buNone/>
            </a:pP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0D276643-C6C3-74A8-1DD5-CC7A60B9EF9B}"/>
              </a:ext>
            </a:extLst>
          </p:cNvPr>
          <p:cNvSpPr/>
          <p:nvPr/>
        </p:nvSpPr>
        <p:spPr>
          <a:xfrm>
            <a:off x="344893" y="1224400"/>
            <a:ext cx="1074199" cy="36346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solidFill>
                  <a:schemeClr val="tx1"/>
                </a:solidFill>
              </a:rPr>
              <a:t>Start</a:t>
            </a:r>
            <a:endParaRPr lang="en-IN" dirty="0">
              <a:solidFill>
                <a:schemeClr val="tx1"/>
              </a:solidFill>
            </a:endParaRPr>
          </a:p>
        </p:txBody>
      </p:sp>
      <p:sp>
        <p:nvSpPr>
          <p:cNvPr id="4" name="Rectangle 3">
            <a:extLst>
              <a:ext uri="{FF2B5EF4-FFF2-40B4-BE49-F238E27FC236}">
                <a16:creationId xmlns:a16="http://schemas.microsoft.com/office/drawing/2014/main" id="{73791BC8-2091-CA7D-B3BD-C54817269E7D}"/>
              </a:ext>
            </a:extLst>
          </p:cNvPr>
          <p:cNvSpPr/>
          <p:nvPr/>
        </p:nvSpPr>
        <p:spPr>
          <a:xfrm>
            <a:off x="1944210" y="1064312"/>
            <a:ext cx="1766656" cy="683642"/>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solidFill>
                  <a:schemeClr val="tx1"/>
                </a:solidFill>
              </a:rPr>
              <a:t>Enter Student Info      </a:t>
            </a:r>
          </a:p>
          <a:p>
            <a:pPr algn="ctr"/>
            <a:r>
              <a:rPr lang="en-IN" dirty="0">
                <a:solidFill>
                  <a:schemeClr val="tx1"/>
                </a:solidFill>
              </a:rPr>
              <a:t>(Name, Contact, Issue)</a:t>
            </a:r>
          </a:p>
        </p:txBody>
      </p:sp>
      <p:sp>
        <p:nvSpPr>
          <p:cNvPr id="5" name="Rectangle 4">
            <a:extLst>
              <a:ext uri="{FF2B5EF4-FFF2-40B4-BE49-F238E27FC236}">
                <a16:creationId xmlns:a16="http://schemas.microsoft.com/office/drawing/2014/main" id="{B44FBF59-52D6-4C58-E48F-87A5963DEB0D}"/>
              </a:ext>
            </a:extLst>
          </p:cNvPr>
          <p:cNvSpPr/>
          <p:nvPr/>
        </p:nvSpPr>
        <p:spPr>
          <a:xfrm>
            <a:off x="6318088" y="878652"/>
            <a:ext cx="2129160" cy="105496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solidFill>
                  <a:schemeClr val="tx1"/>
                </a:solidFill>
              </a:rPr>
              <a:t>Process in Make.com     • Validate Info         </a:t>
            </a:r>
          </a:p>
          <a:p>
            <a:pPr algn="ctr"/>
            <a:r>
              <a:rPr lang="en-IN" dirty="0">
                <a:solidFill>
                  <a:schemeClr val="tx1"/>
                </a:solidFill>
              </a:rPr>
              <a:t>• Format for Vapi API   </a:t>
            </a:r>
          </a:p>
          <a:p>
            <a:pPr algn="ctr"/>
            <a:r>
              <a:rPr lang="en-IN" dirty="0">
                <a:solidFill>
                  <a:schemeClr val="tx1"/>
                </a:solidFill>
              </a:rPr>
              <a:t>• Store in Database </a:t>
            </a:r>
          </a:p>
        </p:txBody>
      </p:sp>
      <p:sp>
        <p:nvSpPr>
          <p:cNvPr id="6" name="Rectangle 5">
            <a:extLst>
              <a:ext uri="{FF2B5EF4-FFF2-40B4-BE49-F238E27FC236}">
                <a16:creationId xmlns:a16="http://schemas.microsoft.com/office/drawing/2014/main" id="{56FB14CF-0248-B8FD-2345-03D86A08C06B}"/>
              </a:ext>
            </a:extLst>
          </p:cNvPr>
          <p:cNvSpPr/>
          <p:nvPr/>
        </p:nvSpPr>
        <p:spPr>
          <a:xfrm>
            <a:off x="6499340" y="2358369"/>
            <a:ext cx="1766656" cy="658614"/>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solidFill>
                  <a:schemeClr val="tx1"/>
                </a:solidFill>
              </a:rPr>
              <a:t>Vapi Calls Student      </a:t>
            </a:r>
          </a:p>
          <a:p>
            <a:pPr algn="ctr"/>
            <a:r>
              <a:rPr lang="en-US" dirty="0">
                <a:solidFill>
                  <a:schemeClr val="tx1"/>
                </a:solidFill>
              </a:rPr>
              <a:t>(Automated Voice Call)</a:t>
            </a:r>
            <a:endParaRPr lang="en-IN" dirty="0">
              <a:solidFill>
                <a:schemeClr val="tx1"/>
              </a:solidFill>
            </a:endParaRPr>
          </a:p>
        </p:txBody>
      </p:sp>
      <p:sp>
        <p:nvSpPr>
          <p:cNvPr id="7" name="Rectangle 6">
            <a:extLst>
              <a:ext uri="{FF2B5EF4-FFF2-40B4-BE49-F238E27FC236}">
                <a16:creationId xmlns:a16="http://schemas.microsoft.com/office/drawing/2014/main" id="{45D46F3B-1120-C9A2-7CEC-067CE0F8F604}"/>
              </a:ext>
            </a:extLst>
          </p:cNvPr>
          <p:cNvSpPr/>
          <p:nvPr/>
        </p:nvSpPr>
        <p:spPr>
          <a:xfrm>
            <a:off x="3296720" y="3944509"/>
            <a:ext cx="1766656" cy="728976"/>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solidFill>
                  <a:schemeClr val="tx1"/>
                </a:solidFill>
              </a:rPr>
              <a:t>Mark as Resolved</a:t>
            </a:r>
          </a:p>
          <a:p>
            <a:pPr algn="ctr"/>
            <a:r>
              <a:rPr lang="en-IN" dirty="0">
                <a:solidFill>
                  <a:schemeClr val="tx1"/>
                </a:solidFill>
              </a:rPr>
              <a:t>• Update DB</a:t>
            </a:r>
          </a:p>
          <a:p>
            <a:pPr algn="ctr"/>
            <a:r>
              <a:rPr lang="en-IN" dirty="0">
                <a:solidFill>
                  <a:schemeClr val="tx1"/>
                </a:solidFill>
              </a:rPr>
              <a:t>  • Send Report </a:t>
            </a:r>
          </a:p>
        </p:txBody>
      </p:sp>
      <p:sp>
        <p:nvSpPr>
          <p:cNvPr id="8" name="Rectangle 7">
            <a:extLst>
              <a:ext uri="{FF2B5EF4-FFF2-40B4-BE49-F238E27FC236}">
                <a16:creationId xmlns:a16="http://schemas.microsoft.com/office/drawing/2014/main" id="{4079719B-568C-F08F-AE35-FA84E56A9428}"/>
              </a:ext>
            </a:extLst>
          </p:cNvPr>
          <p:cNvSpPr/>
          <p:nvPr/>
        </p:nvSpPr>
        <p:spPr>
          <a:xfrm>
            <a:off x="4180048" y="1126487"/>
            <a:ext cx="1766656" cy="55929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solidFill>
                  <a:schemeClr val="tx1"/>
                </a:solidFill>
              </a:rPr>
              <a:t>Trigger Make.com        </a:t>
            </a:r>
          </a:p>
          <a:p>
            <a:pPr algn="ctr"/>
            <a:r>
              <a:rPr lang="en-IN" dirty="0">
                <a:solidFill>
                  <a:schemeClr val="tx1"/>
                </a:solidFill>
              </a:rPr>
              <a:t>(Automation starts) </a:t>
            </a:r>
          </a:p>
        </p:txBody>
      </p:sp>
      <p:sp>
        <p:nvSpPr>
          <p:cNvPr id="11" name="Diamond 10">
            <a:extLst>
              <a:ext uri="{FF2B5EF4-FFF2-40B4-BE49-F238E27FC236}">
                <a16:creationId xmlns:a16="http://schemas.microsoft.com/office/drawing/2014/main" id="{03CB12EF-ACEC-F89D-E88E-770D13E1E097}"/>
              </a:ext>
            </a:extLst>
          </p:cNvPr>
          <p:cNvSpPr/>
          <p:nvPr/>
        </p:nvSpPr>
        <p:spPr>
          <a:xfrm>
            <a:off x="3185748" y="2012674"/>
            <a:ext cx="1988599" cy="1350005"/>
          </a:xfrm>
          <a:prstGeom prst="diamond">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solidFill>
                  <a:schemeClr val="tx1"/>
                </a:solidFill>
              </a:rPr>
              <a:t>Did the Student Issue get resolved?</a:t>
            </a:r>
            <a:endParaRPr lang="en-IN" dirty="0">
              <a:solidFill>
                <a:schemeClr val="tx1"/>
              </a:solidFill>
            </a:endParaRPr>
          </a:p>
        </p:txBody>
      </p:sp>
      <p:cxnSp>
        <p:nvCxnSpPr>
          <p:cNvPr id="13" name="Straight Arrow Connector 12">
            <a:extLst>
              <a:ext uri="{FF2B5EF4-FFF2-40B4-BE49-F238E27FC236}">
                <a16:creationId xmlns:a16="http://schemas.microsoft.com/office/drawing/2014/main" id="{6AD28372-CE13-5BB6-5233-38CFDADB0961}"/>
              </a:ext>
            </a:extLst>
          </p:cNvPr>
          <p:cNvCxnSpPr>
            <a:cxnSpLocks/>
            <a:stCxn id="2" idx="6"/>
            <a:endCxn id="4" idx="1"/>
          </p:cNvCxnSpPr>
          <p:nvPr/>
        </p:nvCxnSpPr>
        <p:spPr>
          <a:xfrm>
            <a:off x="1419092" y="1406133"/>
            <a:ext cx="52511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60A6BECB-ACE6-77EF-6B94-2AC36681C904}"/>
              </a:ext>
            </a:extLst>
          </p:cNvPr>
          <p:cNvCxnSpPr>
            <a:stCxn id="4" idx="3"/>
            <a:endCxn id="8" idx="1"/>
          </p:cNvCxnSpPr>
          <p:nvPr/>
        </p:nvCxnSpPr>
        <p:spPr>
          <a:xfrm>
            <a:off x="3710866" y="1406133"/>
            <a:ext cx="46918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3DCEA9DE-BE0C-8B66-5C31-10BD803B51F6}"/>
              </a:ext>
            </a:extLst>
          </p:cNvPr>
          <p:cNvCxnSpPr>
            <a:stCxn id="8" idx="3"/>
            <a:endCxn id="5" idx="1"/>
          </p:cNvCxnSpPr>
          <p:nvPr/>
        </p:nvCxnSpPr>
        <p:spPr>
          <a:xfrm>
            <a:off x="5946704" y="1406134"/>
            <a:ext cx="37138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5D1D4529-2F80-1F99-64F3-7B33EEC2CFC8}"/>
              </a:ext>
            </a:extLst>
          </p:cNvPr>
          <p:cNvCxnSpPr>
            <a:stCxn id="5" idx="2"/>
            <a:endCxn id="6" idx="0"/>
          </p:cNvCxnSpPr>
          <p:nvPr/>
        </p:nvCxnSpPr>
        <p:spPr>
          <a:xfrm>
            <a:off x="7382668" y="1933615"/>
            <a:ext cx="0" cy="42475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0" name="Straight Arrow Connector 29">
            <a:extLst>
              <a:ext uri="{FF2B5EF4-FFF2-40B4-BE49-F238E27FC236}">
                <a16:creationId xmlns:a16="http://schemas.microsoft.com/office/drawing/2014/main" id="{A1BF5206-7A0C-B16B-BE0F-FD1E8AA6497C}"/>
              </a:ext>
            </a:extLst>
          </p:cNvPr>
          <p:cNvCxnSpPr>
            <a:stCxn id="6" idx="1"/>
            <a:endCxn id="11" idx="3"/>
          </p:cNvCxnSpPr>
          <p:nvPr/>
        </p:nvCxnSpPr>
        <p:spPr>
          <a:xfrm flipH="1">
            <a:off x="5174347" y="2687676"/>
            <a:ext cx="1324993"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1" name="Rectangle 30">
            <a:extLst>
              <a:ext uri="{FF2B5EF4-FFF2-40B4-BE49-F238E27FC236}">
                <a16:creationId xmlns:a16="http://schemas.microsoft.com/office/drawing/2014/main" id="{B71C8EC8-7CA9-7AA9-986C-355B7860DB3A}"/>
              </a:ext>
            </a:extLst>
          </p:cNvPr>
          <p:cNvSpPr/>
          <p:nvPr/>
        </p:nvSpPr>
        <p:spPr>
          <a:xfrm>
            <a:off x="535764" y="3825293"/>
            <a:ext cx="1766656" cy="96740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solidFill>
                  <a:schemeClr val="tx1"/>
                </a:solidFill>
              </a:rPr>
              <a:t>Manual Resolution</a:t>
            </a:r>
          </a:p>
          <a:p>
            <a:pPr algn="ctr"/>
            <a:r>
              <a:rPr lang="en-IN" dirty="0">
                <a:solidFill>
                  <a:schemeClr val="tx1"/>
                </a:solidFill>
              </a:rPr>
              <a:t>• Staff follow-up</a:t>
            </a:r>
          </a:p>
          <a:p>
            <a:pPr algn="ctr"/>
            <a:r>
              <a:rPr lang="en-IN" dirty="0">
                <a:solidFill>
                  <a:schemeClr val="tx1"/>
                </a:solidFill>
              </a:rPr>
              <a:t>• Final Outcome Stored </a:t>
            </a:r>
          </a:p>
        </p:txBody>
      </p:sp>
      <p:sp>
        <p:nvSpPr>
          <p:cNvPr id="33" name="Rectangle 32">
            <a:extLst>
              <a:ext uri="{FF2B5EF4-FFF2-40B4-BE49-F238E27FC236}">
                <a16:creationId xmlns:a16="http://schemas.microsoft.com/office/drawing/2014/main" id="{144ED7DD-6B98-28D7-8048-B48CBBAC40E2}"/>
              </a:ext>
            </a:extLst>
          </p:cNvPr>
          <p:cNvSpPr/>
          <p:nvPr/>
        </p:nvSpPr>
        <p:spPr>
          <a:xfrm>
            <a:off x="424718" y="2048904"/>
            <a:ext cx="1988748" cy="1313775"/>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r>
              <a:rPr lang="en-IN" dirty="0">
                <a:solidFill>
                  <a:schemeClr val="tx1"/>
                </a:solidFill>
              </a:rPr>
              <a:t>Escalation Triggered via Make.com</a:t>
            </a:r>
          </a:p>
          <a:p>
            <a:r>
              <a:rPr lang="en-IN" dirty="0">
                <a:solidFill>
                  <a:schemeClr val="tx1"/>
                </a:solidFill>
              </a:rPr>
              <a:t>• Notify Support Staff</a:t>
            </a:r>
          </a:p>
          <a:p>
            <a:r>
              <a:rPr lang="en-IN" dirty="0">
                <a:solidFill>
                  <a:schemeClr val="tx1"/>
                </a:solidFill>
              </a:rPr>
              <a:t>• Slack/Email/CRM Update</a:t>
            </a:r>
          </a:p>
          <a:p>
            <a:r>
              <a:rPr lang="en-IN" dirty="0">
                <a:solidFill>
                  <a:schemeClr val="tx1"/>
                </a:solidFill>
              </a:rPr>
              <a:t>• Assign Human Agent</a:t>
            </a:r>
          </a:p>
        </p:txBody>
      </p:sp>
      <p:cxnSp>
        <p:nvCxnSpPr>
          <p:cNvPr id="35" name="Straight Arrow Connector 34">
            <a:extLst>
              <a:ext uri="{FF2B5EF4-FFF2-40B4-BE49-F238E27FC236}">
                <a16:creationId xmlns:a16="http://schemas.microsoft.com/office/drawing/2014/main" id="{17F4AF0A-C5D7-B0AE-25F3-2BA73E26E416}"/>
              </a:ext>
            </a:extLst>
          </p:cNvPr>
          <p:cNvCxnSpPr>
            <a:cxnSpLocks/>
            <a:stCxn id="11" idx="2"/>
            <a:endCxn id="7" idx="0"/>
          </p:cNvCxnSpPr>
          <p:nvPr/>
        </p:nvCxnSpPr>
        <p:spPr>
          <a:xfrm>
            <a:off x="4180048" y="3362679"/>
            <a:ext cx="0" cy="58183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6" name="Oval 35">
            <a:extLst>
              <a:ext uri="{FF2B5EF4-FFF2-40B4-BE49-F238E27FC236}">
                <a16:creationId xmlns:a16="http://schemas.microsoft.com/office/drawing/2014/main" id="{2DAA51B2-6722-47AB-891A-BBF4D6DCC64C}"/>
              </a:ext>
            </a:extLst>
          </p:cNvPr>
          <p:cNvSpPr/>
          <p:nvPr/>
        </p:nvSpPr>
        <p:spPr>
          <a:xfrm>
            <a:off x="6215254" y="4127264"/>
            <a:ext cx="1074199" cy="363466"/>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solidFill>
                  <a:schemeClr val="tx1"/>
                </a:solidFill>
              </a:rPr>
              <a:t>End</a:t>
            </a:r>
            <a:endParaRPr lang="en-IN" dirty="0">
              <a:solidFill>
                <a:schemeClr val="tx1"/>
              </a:solidFill>
            </a:endParaRPr>
          </a:p>
        </p:txBody>
      </p:sp>
      <p:cxnSp>
        <p:nvCxnSpPr>
          <p:cNvPr id="38" name="Straight Arrow Connector 37">
            <a:extLst>
              <a:ext uri="{FF2B5EF4-FFF2-40B4-BE49-F238E27FC236}">
                <a16:creationId xmlns:a16="http://schemas.microsoft.com/office/drawing/2014/main" id="{4A173AA7-16B7-E2EC-A6CA-1937FABB248E}"/>
              </a:ext>
            </a:extLst>
          </p:cNvPr>
          <p:cNvCxnSpPr>
            <a:stCxn id="7" idx="3"/>
            <a:endCxn id="36" idx="2"/>
          </p:cNvCxnSpPr>
          <p:nvPr/>
        </p:nvCxnSpPr>
        <p:spPr>
          <a:xfrm>
            <a:off x="5063376" y="4308997"/>
            <a:ext cx="115187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23486028-0B43-37D3-180E-05B307034EDA}"/>
              </a:ext>
            </a:extLst>
          </p:cNvPr>
          <p:cNvCxnSpPr>
            <a:stCxn id="11" idx="1"/>
            <a:endCxn id="33" idx="3"/>
          </p:cNvCxnSpPr>
          <p:nvPr/>
        </p:nvCxnSpPr>
        <p:spPr>
          <a:xfrm flipH="1">
            <a:off x="2413466" y="2687677"/>
            <a:ext cx="772282" cy="1811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3" name="Straight Arrow Connector 42">
            <a:extLst>
              <a:ext uri="{FF2B5EF4-FFF2-40B4-BE49-F238E27FC236}">
                <a16:creationId xmlns:a16="http://schemas.microsoft.com/office/drawing/2014/main" id="{D8181EC3-A24F-2711-8BB9-092204A6AEFD}"/>
              </a:ext>
            </a:extLst>
          </p:cNvPr>
          <p:cNvCxnSpPr>
            <a:stCxn id="33" idx="2"/>
            <a:endCxn id="31" idx="0"/>
          </p:cNvCxnSpPr>
          <p:nvPr/>
        </p:nvCxnSpPr>
        <p:spPr>
          <a:xfrm>
            <a:off x="1419092" y="3362679"/>
            <a:ext cx="0" cy="46261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7" name="Straight Arrow Connector 46">
            <a:extLst>
              <a:ext uri="{FF2B5EF4-FFF2-40B4-BE49-F238E27FC236}">
                <a16:creationId xmlns:a16="http://schemas.microsoft.com/office/drawing/2014/main" id="{A6BE2CA7-305A-89B8-4C6B-5053910DBA6A}"/>
              </a:ext>
            </a:extLst>
          </p:cNvPr>
          <p:cNvCxnSpPr>
            <a:stCxn id="31" idx="3"/>
            <a:endCxn id="7" idx="1"/>
          </p:cNvCxnSpPr>
          <p:nvPr/>
        </p:nvCxnSpPr>
        <p:spPr>
          <a:xfrm flipV="1">
            <a:off x="2302420" y="4308997"/>
            <a:ext cx="9943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539C0EF7-013E-E02F-BDFE-EC04C3EE73D2}"/>
              </a:ext>
            </a:extLst>
          </p:cNvPr>
          <p:cNvSpPr txBox="1"/>
          <p:nvPr/>
        </p:nvSpPr>
        <p:spPr>
          <a:xfrm>
            <a:off x="657225" y="2412132"/>
            <a:ext cx="4572000" cy="307777"/>
          </a:xfrm>
          <a:prstGeom prst="rect">
            <a:avLst/>
          </a:prstGeom>
          <a:noFill/>
        </p:spPr>
        <p:txBody>
          <a:bodyPr wrap="square">
            <a:spAutoFit/>
          </a:bodyPr>
          <a:lstStyle/>
          <a:p>
            <a:pPr algn="ctr"/>
            <a:r>
              <a:rPr lang="en-US" dirty="0">
                <a:solidFill>
                  <a:schemeClr val="tx1"/>
                </a:solidFill>
                <a:latin typeface="Times New Roman" panose="02020603050405020304" pitchFamily="18" charset="0"/>
                <a:ea typeface="Montserrat"/>
                <a:cs typeface="Times New Roman" panose="02020603050405020304" pitchFamily="18" charset="0"/>
                <a:sym typeface="Montserrat"/>
              </a:rPr>
              <a:t>Y</a:t>
            </a:r>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es</a:t>
            </a:r>
            <a:endParaRPr lang="en-US" dirty="0"/>
          </a:p>
        </p:txBody>
      </p:sp>
      <p:sp>
        <p:nvSpPr>
          <p:cNvPr id="76" name="TextBox 75">
            <a:extLst>
              <a:ext uri="{FF2B5EF4-FFF2-40B4-BE49-F238E27FC236}">
                <a16:creationId xmlns:a16="http://schemas.microsoft.com/office/drawing/2014/main" id="{1064171D-B558-D40B-DB69-7B079CD9F21D}"/>
              </a:ext>
            </a:extLst>
          </p:cNvPr>
          <p:cNvSpPr txBox="1"/>
          <p:nvPr/>
        </p:nvSpPr>
        <p:spPr>
          <a:xfrm>
            <a:off x="2078832" y="3490181"/>
            <a:ext cx="4572000" cy="307777"/>
          </a:xfrm>
          <a:prstGeom prst="rect">
            <a:avLst/>
          </a:prstGeom>
          <a:noFill/>
        </p:spPr>
        <p:txBody>
          <a:bodyPr wrap="square">
            <a:spAutoFit/>
          </a:bodyPr>
          <a:lstStyle/>
          <a:p>
            <a:pPr algn="ctr"/>
            <a:r>
              <a:rPr lang="en-US" dirty="0">
                <a:solidFill>
                  <a:schemeClr val="tx1"/>
                </a:solidFill>
                <a:latin typeface="Times New Roman" panose="02020603050405020304" pitchFamily="18" charset="0"/>
                <a:cs typeface="Times New Roman" panose="02020603050405020304" pitchFamily="18" charset="0"/>
                <a:sym typeface="Montserrat"/>
              </a:rPr>
              <a:t>No</a:t>
            </a:r>
            <a:endParaRPr lang="en-US" dirty="0"/>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11D6D-BB66-4576-C873-A8314BE7D97D}"/>
              </a:ext>
            </a:extLst>
          </p:cNvPr>
          <p:cNvSpPr>
            <a:spLocks noGrp="1"/>
          </p:cNvSpPr>
          <p:nvPr>
            <p:ph type="title"/>
          </p:nvPr>
        </p:nvSpPr>
        <p:spPr>
          <a:xfrm>
            <a:off x="2723680" y="154922"/>
            <a:ext cx="3120905" cy="430887"/>
          </a:xfrm>
        </p:spPr>
        <p:txBody>
          <a:bodyPr spcFirstLastPara="1" wrap="square" lIns="0" tIns="0" rIns="0" bIns="0" anchor="t" anchorCtr="0">
            <a:spAutoFit/>
          </a:bodyPr>
          <a:lstStyle/>
          <a:p>
            <a:pPr algn="ctr"/>
            <a:r>
              <a:rPr lang="en-IN" dirty="0"/>
              <a:t>Module Description</a:t>
            </a:r>
            <a:endParaRPr lang="en-US" dirty="0"/>
          </a:p>
        </p:txBody>
      </p:sp>
      <p:graphicFrame>
        <p:nvGraphicFramePr>
          <p:cNvPr id="4" name="Table 3">
            <a:extLst>
              <a:ext uri="{FF2B5EF4-FFF2-40B4-BE49-F238E27FC236}">
                <a16:creationId xmlns:a16="http://schemas.microsoft.com/office/drawing/2014/main" id="{D66DFF0A-3A1F-3DEC-FC0B-DB40A76591F9}"/>
              </a:ext>
            </a:extLst>
          </p:cNvPr>
          <p:cNvGraphicFramePr>
            <a:graphicFrameLocks noGrp="1"/>
          </p:cNvGraphicFramePr>
          <p:nvPr/>
        </p:nvGraphicFramePr>
        <p:xfrm>
          <a:off x="194094" y="711679"/>
          <a:ext cx="8587968" cy="3650745"/>
        </p:xfrm>
        <a:graphic>
          <a:graphicData uri="http://schemas.openxmlformats.org/drawingml/2006/table">
            <a:tbl>
              <a:tblPr/>
              <a:tblGrid>
                <a:gridCol w="2042492">
                  <a:extLst>
                    <a:ext uri="{9D8B030D-6E8A-4147-A177-3AD203B41FA5}">
                      <a16:colId xmlns:a16="http://schemas.microsoft.com/office/drawing/2014/main" val="732085897"/>
                    </a:ext>
                  </a:extLst>
                </a:gridCol>
                <a:gridCol w="3495987">
                  <a:extLst>
                    <a:ext uri="{9D8B030D-6E8A-4147-A177-3AD203B41FA5}">
                      <a16:colId xmlns:a16="http://schemas.microsoft.com/office/drawing/2014/main" val="489355845"/>
                    </a:ext>
                  </a:extLst>
                </a:gridCol>
                <a:gridCol w="3049489">
                  <a:extLst>
                    <a:ext uri="{9D8B030D-6E8A-4147-A177-3AD203B41FA5}">
                      <a16:colId xmlns:a16="http://schemas.microsoft.com/office/drawing/2014/main" val="231583671"/>
                    </a:ext>
                  </a:extLst>
                </a:gridCol>
              </a:tblGrid>
              <a:tr h="293182">
                <a:tc>
                  <a:txBody>
                    <a:bodyPr/>
                    <a:lstStyle/>
                    <a:p>
                      <a:pPr rtl="0" fontAlgn="ctr">
                        <a:buNone/>
                      </a:pPr>
                      <a:r>
                        <a:rPr lang="en-IN" sz="1400" b="1" i="0" u="none" strike="noStrike">
                          <a:solidFill>
                            <a:srgbClr val="FFFFFF"/>
                          </a:solidFill>
                          <a:effectLst/>
                          <a:latin typeface="Arial"/>
                        </a:rPr>
                        <a:t>Module</a:t>
                      </a:r>
                      <a:endParaRPr lang="en-IN" sz="1400">
                        <a:effectLst/>
                        <a:latin typeface="Arial"/>
                      </a:endParaRPr>
                    </a:p>
                  </a:txBody>
                  <a:tcPr marL="38100" marR="38100" marT="19050" marB="19050" anchor="ctr">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tc>
                  <a:txBody>
                    <a:bodyPr/>
                    <a:lstStyle/>
                    <a:p>
                      <a:pPr rtl="0" fontAlgn="ctr">
                        <a:buNone/>
                      </a:pPr>
                      <a:r>
                        <a:rPr lang="en-IN" sz="1400" b="1" i="0" u="none" strike="noStrike">
                          <a:solidFill>
                            <a:srgbClr val="FFFFFF"/>
                          </a:solidFill>
                          <a:effectLst/>
                          <a:latin typeface="Arial"/>
                        </a:rPr>
                        <a:t>Functionality</a:t>
                      </a:r>
                      <a:endParaRPr lang="en-IN" sz="1400">
                        <a:effectLst/>
                        <a:latin typeface="Arial"/>
                      </a:endParaRPr>
                    </a:p>
                  </a:txBody>
                  <a:tcPr marL="38100" marR="38100" marT="19050" marB="1905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tc>
                  <a:txBody>
                    <a:bodyPr/>
                    <a:lstStyle/>
                    <a:p>
                      <a:pPr rtl="0" fontAlgn="ctr">
                        <a:buNone/>
                      </a:pPr>
                      <a:r>
                        <a:rPr lang="en-IN" sz="1400" b="1" i="0" u="none" strike="noStrike">
                          <a:solidFill>
                            <a:srgbClr val="FFFFFF"/>
                          </a:solidFill>
                          <a:effectLst/>
                          <a:latin typeface="Arial"/>
                        </a:rPr>
                        <a:t>Tools/Libraries</a:t>
                      </a:r>
                      <a:endParaRPr lang="en-IN" sz="1400">
                        <a:effectLst/>
                        <a:latin typeface="Arial"/>
                      </a:endParaRPr>
                    </a:p>
                  </a:txBody>
                  <a:tcPr marL="38100" marR="38100" marT="19050" marB="19050" anchor="ctr">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extLst>
                  <a:ext uri="{0D108BD9-81ED-4DB2-BD59-A6C34878D82A}">
                    <a16:rowId xmlns:a16="http://schemas.microsoft.com/office/drawing/2014/main" val="3660529611"/>
                  </a:ext>
                </a:extLst>
              </a:tr>
              <a:tr h="589359">
                <a:tc>
                  <a:txBody>
                    <a:bodyPr/>
                    <a:lstStyle/>
                    <a:p>
                      <a:pPr lvl="0">
                        <a:buNone/>
                      </a:pPr>
                      <a:r>
                        <a:rPr lang="en-IN" sz="1200" b="1" i="0" u="none" strike="noStrike" noProof="0" dirty="0">
                          <a:solidFill>
                            <a:srgbClr val="000000"/>
                          </a:solidFill>
                          <a:effectLst/>
                        </a:rPr>
                        <a:t>Voice Call Handling</a:t>
                      </a:r>
                      <a:endParaRPr lang="en-US" sz="1200" b="1" dirty="0"/>
                    </a:p>
                  </a:txBody>
                  <a:tcPr marL="38100" marR="38100" marT="19050" marB="19050" anchor="ctr">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rtl="0" fontAlgn="base">
                        <a:lnSpc>
                          <a:spcPct val="100000"/>
                        </a:lnSpc>
                        <a:spcBef>
                          <a:spcPts val="0"/>
                        </a:spcBef>
                        <a:spcAft>
                          <a:spcPts val="0"/>
                        </a:spcAft>
                        <a:buFont typeface="Arial"/>
                        <a:buChar char="•"/>
                      </a:pPr>
                      <a:r>
                        <a:rPr lang="en-US" sz="1200" b="0" i="0" u="none" strike="noStrike" noProof="0">
                          <a:solidFill>
                            <a:srgbClr val="000000"/>
                          </a:solidFill>
                          <a:effectLst/>
                        </a:rPr>
                        <a:t>Receives customer voice calls via browser or phone </a:t>
                      </a:r>
                      <a:endParaRPr lang="en-US" sz="1200" b="0" i="0" u="none" strike="noStrike">
                        <a:solidFill>
                          <a:srgbClr val="000000"/>
                        </a:solidFill>
                        <a:effectLst/>
                        <a:latin typeface="Arial"/>
                      </a:endParaRPr>
                    </a:p>
                    <a:p>
                      <a:pPr marL="342900" lvl="0" indent="-342900">
                        <a:buFont typeface="Arial"/>
                        <a:buChar char="•"/>
                      </a:pPr>
                      <a:r>
                        <a:rPr lang="en-US" sz="1200" b="0" i="0" u="none" strike="noStrike" noProof="0">
                          <a:solidFill>
                            <a:srgbClr val="000000"/>
                          </a:solidFill>
                          <a:effectLst/>
                        </a:rPr>
                        <a:t>Securely streams audio for processing</a:t>
                      </a:r>
                      <a:endParaRPr lang="en-US" sz="1200"/>
                    </a:p>
                  </a:txBody>
                  <a:tcPr marL="38100" marR="38100" marT="19050" marB="1905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lvl="0">
                        <a:buNone/>
                      </a:pPr>
                      <a:r>
                        <a:rPr lang="en-US" sz="1200" b="0" i="0" u="none" strike="noStrike" noProof="0">
                          <a:solidFill>
                            <a:srgbClr val="000000"/>
                          </a:solidFill>
                          <a:effectLst/>
                        </a:rPr>
                        <a:t>Vapi.ai</a:t>
                      </a:r>
                      <a:endParaRPr lang="en-US" sz="1200"/>
                    </a:p>
                  </a:txBody>
                  <a:tcPr marL="38100" marR="38100" marT="19050" marB="19050" anchor="ctr">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485726478"/>
                  </a:ext>
                </a:extLst>
              </a:tr>
              <a:tr h="526852">
                <a:tc>
                  <a:txBody>
                    <a:bodyPr/>
                    <a:lstStyle/>
                    <a:p>
                      <a:pPr lvl="0" algn="l">
                        <a:lnSpc>
                          <a:spcPct val="100000"/>
                        </a:lnSpc>
                        <a:spcBef>
                          <a:spcPts val="0"/>
                        </a:spcBef>
                        <a:spcAft>
                          <a:spcPts val="0"/>
                        </a:spcAft>
                        <a:buNone/>
                      </a:pPr>
                      <a:r>
                        <a:rPr lang="en-IN" sz="1200" b="1" dirty="0"/>
                        <a:t>Speech-to-Text (STT)</a:t>
                      </a:r>
                      <a:endParaRPr lang="en-US" sz="1200" dirty="0"/>
                    </a:p>
                    <a:p>
                      <a:pPr lvl="0">
                        <a:buNone/>
                      </a:pPr>
                      <a:endParaRPr lang="en-IN" sz="1200" b="0" i="0" u="none" strike="noStrike" dirty="0">
                        <a:solidFill>
                          <a:srgbClr val="000000"/>
                        </a:solidFill>
                        <a:effectLst/>
                        <a:latin typeface="Arial"/>
                      </a:endParaRPr>
                    </a:p>
                  </a:txBody>
                  <a:tcPr marL="38100" marR="38100" marT="19050" marB="19050">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tc>
                  <a:txBody>
                    <a:bodyPr/>
                    <a:lstStyle/>
                    <a:p>
                      <a:pPr marL="342900" indent="-342900" rtl="0" fontAlgn="base">
                        <a:buFont typeface="Arial"/>
                        <a:buChar char="•"/>
                      </a:pPr>
                      <a:r>
                        <a:rPr lang="en-US" sz="1200" b="0" i="0" u="none" strike="noStrike" noProof="0">
                          <a:solidFill>
                            <a:srgbClr val="000000"/>
                          </a:solidFill>
                          <a:effectLst/>
                        </a:rPr>
                        <a:t>Converts spoken audio to text </a:t>
                      </a:r>
                      <a:endParaRPr lang="en-US" sz="1200" b="0" i="0" u="none" strike="noStrike">
                        <a:solidFill>
                          <a:srgbClr val="000000"/>
                        </a:solidFill>
                        <a:effectLst/>
                        <a:latin typeface="Arial"/>
                      </a:endParaRPr>
                    </a:p>
                    <a:p>
                      <a:pPr marL="342900" lvl="0" indent="-342900">
                        <a:buFont typeface="Arial"/>
                        <a:buChar char="•"/>
                      </a:pPr>
                      <a:r>
                        <a:rPr lang="en-US" sz="1200" b="0" i="0" u="none" strike="noStrike" noProof="0">
                          <a:solidFill>
                            <a:srgbClr val="000000"/>
                          </a:solidFill>
                          <a:effectLst/>
                        </a:rPr>
                        <a:t>Uses multilingual STT engines</a:t>
                      </a:r>
                      <a:endParaRPr lang="en-US" sz="1200"/>
                    </a:p>
                  </a:txBody>
                  <a:tcPr marL="38100" marR="38100" marT="19050" marB="1905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tc>
                  <a:txBody>
                    <a:bodyPr/>
                    <a:lstStyle/>
                    <a:p>
                      <a:pPr lvl="0">
                        <a:buNone/>
                      </a:pPr>
                      <a:r>
                        <a:rPr lang="en-IN" sz="1200" b="0" i="0" u="none" strike="noStrike" noProof="0">
                          <a:solidFill>
                            <a:srgbClr val="000000"/>
                          </a:solidFill>
                          <a:effectLst/>
                        </a:rPr>
                        <a:t>Google STT, Azure STT,Ollama </a:t>
                      </a:r>
                      <a:endParaRPr lang="en-US" sz="1200"/>
                    </a:p>
                  </a:txBody>
                  <a:tcPr marL="38100" marR="38100" marT="19050" marB="19050">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extLst>
                  <a:ext uri="{0D108BD9-81ED-4DB2-BD59-A6C34878D82A}">
                    <a16:rowId xmlns:a16="http://schemas.microsoft.com/office/drawing/2014/main" val="3961247607"/>
                  </a:ext>
                </a:extLst>
              </a:tr>
              <a:tr h="839391">
                <a:tc>
                  <a:txBody>
                    <a:bodyPr/>
                    <a:lstStyle/>
                    <a:p>
                      <a:pPr lvl="0">
                        <a:buNone/>
                      </a:pPr>
                      <a:r>
                        <a:rPr lang="en-IN" sz="1200" b="1" i="0" u="none" strike="noStrike" noProof="0">
                          <a:solidFill>
                            <a:srgbClr val="000000"/>
                          </a:solidFill>
                          <a:effectLst/>
                        </a:rPr>
                        <a:t>Language Detection &amp; Translation</a:t>
                      </a:r>
                      <a:endParaRPr lang="en-US" sz="1200" b="1"/>
                    </a:p>
                  </a:txBody>
                  <a:tcPr marL="38100" marR="38100" marT="19050" marB="19050">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rtl="0" fontAlgn="base">
                        <a:lnSpc>
                          <a:spcPct val="100000"/>
                        </a:lnSpc>
                        <a:spcBef>
                          <a:spcPts val="0"/>
                        </a:spcBef>
                        <a:spcAft>
                          <a:spcPts val="0"/>
                        </a:spcAft>
                        <a:buFont typeface="Arial"/>
                        <a:buChar char="•"/>
                      </a:pPr>
                      <a:r>
                        <a:rPr lang="en-US" sz="1200" b="0" i="0" u="none" strike="noStrike" noProof="0">
                          <a:solidFill>
                            <a:srgbClr val="000000"/>
                          </a:solidFill>
                          <a:effectLst/>
                        </a:rPr>
                        <a:t>Detects spoken language in real-time </a:t>
                      </a:r>
                      <a:endParaRPr lang="en-US" sz="1200" b="0" i="0" u="none" strike="noStrike">
                        <a:solidFill>
                          <a:srgbClr val="000000"/>
                        </a:solidFill>
                        <a:effectLst/>
                        <a:latin typeface="Arial"/>
                      </a:endParaRPr>
                    </a:p>
                    <a:p>
                      <a:pPr marL="342900" lvl="0" indent="-342900" algn="l">
                        <a:lnSpc>
                          <a:spcPct val="100000"/>
                        </a:lnSpc>
                        <a:spcBef>
                          <a:spcPts val="0"/>
                        </a:spcBef>
                        <a:spcAft>
                          <a:spcPts val="0"/>
                        </a:spcAft>
                        <a:buFont typeface="Arial"/>
                        <a:buChar char="•"/>
                      </a:pPr>
                      <a:r>
                        <a:rPr lang="en-US" sz="1200" b="0" i="0" u="none" strike="noStrike" noProof="0">
                          <a:solidFill>
                            <a:srgbClr val="000000"/>
                          </a:solidFill>
                          <a:effectLst/>
                        </a:rPr>
                        <a:t>Translates text to/from English for processing </a:t>
                      </a:r>
                      <a:endParaRPr lang="en-US" sz="1200"/>
                    </a:p>
                    <a:p>
                      <a:pPr marL="342900" lvl="0" indent="-342900" algn="l">
                        <a:lnSpc>
                          <a:spcPct val="100000"/>
                        </a:lnSpc>
                        <a:spcBef>
                          <a:spcPts val="0"/>
                        </a:spcBef>
                        <a:spcAft>
                          <a:spcPts val="0"/>
                        </a:spcAft>
                        <a:buFont typeface="Arial"/>
                        <a:buChar char="•"/>
                      </a:pPr>
                      <a:r>
                        <a:rPr lang="en-US" sz="1200" b="0" i="0" u="none" strike="noStrike" noProof="0">
                          <a:solidFill>
                            <a:srgbClr val="000000"/>
                          </a:solidFill>
                          <a:effectLst/>
                        </a:rPr>
                        <a:t>Translates responses back if needed</a:t>
                      </a:r>
                      <a:endParaRPr lang="en-US" sz="1200"/>
                    </a:p>
                  </a:txBody>
                  <a:tcPr marL="38100" marR="38100" marT="19050" marB="1905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lvl="0" algn="l">
                        <a:lnSpc>
                          <a:spcPct val="100000"/>
                        </a:lnSpc>
                        <a:spcBef>
                          <a:spcPts val="0"/>
                        </a:spcBef>
                        <a:spcAft>
                          <a:spcPts val="0"/>
                        </a:spcAft>
                        <a:buNone/>
                      </a:pPr>
                      <a:r>
                        <a:rPr lang="en-IN" sz="1200" b="0" i="0" u="none" strike="noStrike" noProof="0">
                          <a:solidFill>
                            <a:srgbClr val="000000"/>
                          </a:solidFill>
                          <a:effectLst/>
                        </a:rPr>
                        <a:t>Google Cloud Translation API </a:t>
                      </a:r>
                      <a:endParaRPr lang="en-US" sz="700" b="0"/>
                    </a:p>
                    <a:p>
                      <a:pPr lvl="0" algn="l">
                        <a:lnSpc>
                          <a:spcPct val="100000"/>
                        </a:lnSpc>
                        <a:spcBef>
                          <a:spcPts val="0"/>
                        </a:spcBef>
                        <a:spcAft>
                          <a:spcPts val="0"/>
                        </a:spcAft>
                        <a:buNone/>
                      </a:pPr>
                      <a:r>
                        <a:rPr lang="en-IN" sz="1200" b="0" i="0" u="none" strike="noStrike" noProof="0">
                          <a:solidFill>
                            <a:srgbClr val="000000"/>
                          </a:solidFill>
                          <a:effectLst/>
                        </a:rPr>
                        <a:t>Microsoft Azure Translator </a:t>
                      </a:r>
                      <a:endParaRPr lang="en-IN" sz="700" b="0"/>
                    </a:p>
                    <a:p>
                      <a:pPr lvl="0">
                        <a:buNone/>
                      </a:pPr>
                      <a:r>
                        <a:rPr lang="en-IN" sz="1200" b="0" i="0" u="none" strike="noStrike" noProof="0">
                          <a:solidFill>
                            <a:srgbClr val="000000"/>
                          </a:solidFill>
                          <a:effectLst/>
                        </a:rPr>
                        <a:t>Amazon Translate </a:t>
                      </a:r>
                      <a:endParaRPr lang="en-IN" sz="700" b="0"/>
                    </a:p>
                  </a:txBody>
                  <a:tcPr marL="38100" marR="38100" marT="19050" marB="19050">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3246620835"/>
                  </a:ext>
                </a:extLst>
              </a:tr>
              <a:tr h="687586">
                <a:tc>
                  <a:txBody>
                    <a:bodyPr/>
                    <a:lstStyle/>
                    <a:p>
                      <a:pPr lvl="0" algn="l">
                        <a:lnSpc>
                          <a:spcPct val="100000"/>
                        </a:lnSpc>
                        <a:spcBef>
                          <a:spcPts val="0"/>
                        </a:spcBef>
                        <a:spcAft>
                          <a:spcPts val="0"/>
                        </a:spcAft>
                        <a:buNone/>
                      </a:pPr>
                      <a:r>
                        <a:rPr lang="en-IN" sz="1200" b="1"/>
                        <a:t>Intent Recognition (LLM)</a:t>
                      </a:r>
                      <a:endParaRPr lang="en-US" sz="1200"/>
                    </a:p>
                    <a:p>
                      <a:pPr lvl="0">
                        <a:buNone/>
                      </a:pPr>
                      <a:endParaRPr lang="en-IN" sz="1200" b="0" i="0" u="none" strike="noStrike">
                        <a:solidFill>
                          <a:srgbClr val="000000"/>
                        </a:solidFill>
                        <a:effectLst/>
                        <a:latin typeface="Arial"/>
                      </a:endParaRPr>
                    </a:p>
                  </a:txBody>
                  <a:tcPr marL="38100" marR="38100" marT="19050" marB="19050">
                    <a:lnL w="10157">
                      <a:solidFill>
                        <a:srgbClr val="FFAB40"/>
                      </a:solidFill>
                    </a:lnL>
                    <a:lnR w="7620">
                      <a:solidFill>
                        <a:srgbClr val="00000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a:lnSpc>
                          <a:spcPct val="100000"/>
                        </a:lnSpc>
                        <a:spcBef>
                          <a:spcPts val="0"/>
                        </a:spcBef>
                        <a:spcAft>
                          <a:spcPts val="0"/>
                        </a:spcAft>
                        <a:buFont typeface="Arial"/>
                        <a:buChar char="•"/>
                      </a:pPr>
                      <a:r>
                        <a:rPr lang="en-US" sz="1200" b="0" i="0" u="none" strike="noStrike" noProof="0">
                          <a:solidFill>
                            <a:srgbClr val="000000"/>
                          </a:solidFill>
                          <a:effectLst/>
                        </a:rPr>
                        <a:t>Understands user intent via Ollama LLM </a:t>
                      </a:r>
                      <a:endParaRPr lang="en-US" sz="1200" b="0" i="0" u="none" strike="noStrike">
                        <a:solidFill>
                          <a:srgbClr val="000000"/>
                        </a:solidFill>
                        <a:effectLst/>
                        <a:latin typeface="Arial"/>
                      </a:endParaRPr>
                    </a:p>
                    <a:p>
                      <a:pPr marL="342900" lvl="0" indent="-342900">
                        <a:buFont typeface="Arial"/>
                        <a:buChar char="•"/>
                      </a:pPr>
                      <a:r>
                        <a:rPr lang="en-US" sz="1200" b="0" i="0" u="none" strike="noStrike" noProof="0">
                          <a:solidFill>
                            <a:srgbClr val="000000"/>
                          </a:solidFill>
                          <a:effectLst/>
                        </a:rPr>
                        <a:t> Generates smart AI responses</a:t>
                      </a:r>
                      <a:endParaRPr lang="en-US" sz="1200"/>
                    </a:p>
                  </a:txBody>
                  <a:tcPr marL="38100" marR="38100" marT="19050" marB="19050">
                    <a:lnL w="7620">
                      <a:solidFill>
                        <a:srgbClr val="000000"/>
                      </a:solidFill>
                    </a:lnL>
                    <a:lnR w="7620">
                      <a:solidFill>
                        <a:srgbClr val="00000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tc>
                  <a:txBody>
                    <a:bodyPr/>
                    <a:lstStyle/>
                    <a:p>
                      <a:pPr lvl="0">
                        <a:buNone/>
                      </a:pPr>
                      <a:r>
                        <a:rPr lang="en-IN" sz="1200" b="0" i="0" u="none" strike="noStrike" noProof="0">
                          <a:solidFill>
                            <a:srgbClr val="000000"/>
                          </a:solidFill>
                          <a:effectLst/>
                        </a:rPr>
                        <a:t>Ollama LLM</a:t>
                      </a:r>
                      <a:endParaRPr lang="en-US" sz="1200"/>
                    </a:p>
                  </a:txBody>
                  <a:tcPr marL="38100" marR="38100" marT="19050" marB="19050">
                    <a:lnL w="7620">
                      <a:solidFill>
                        <a:srgbClr val="000000"/>
                      </a:solidFill>
                    </a:lnL>
                    <a:lnR w="10157">
                      <a:solidFill>
                        <a:srgbClr val="FFAB4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3551395324"/>
                  </a:ext>
                </a:extLst>
              </a:tr>
              <a:tr h="714375">
                <a:tc>
                  <a:txBody>
                    <a:bodyPr/>
                    <a:lstStyle/>
                    <a:p>
                      <a:pPr lvl="0" algn="l">
                        <a:lnSpc>
                          <a:spcPct val="100000"/>
                        </a:lnSpc>
                        <a:spcBef>
                          <a:spcPts val="0"/>
                        </a:spcBef>
                        <a:spcAft>
                          <a:spcPts val="0"/>
                        </a:spcAft>
                        <a:buNone/>
                      </a:pPr>
                      <a:r>
                        <a:rPr lang="en-IN" sz="1200" b="1"/>
                        <a:t>Text-to-Speech (TTS)</a:t>
                      </a:r>
                      <a:endParaRPr lang="en-US" sz="1200"/>
                    </a:p>
                    <a:p>
                      <a:pPr lvl="0">
                        <a:buNone/>
                      </a:pPr>
                      <a:endParaRPr lang="en-IN" sz="1200" b="0" i="0" u="none" strike="noStrike">
                        <a:solidFill>
                          <a:srgbClr val="000000"/>
                        </a:solidFill>
                        <a:effectLst/>
                        <a:latin typeface="Arial"/>
                      </a:endParaRPr>
                    </a:p>
                  </a:txBody>
                  <a:tcPr marL="38100" marR="38100" marT="19050" marB="19050">
                    <a:lnL w="10157">
                      <a:solidFill>
                        <a:srgbClr val="FFAB40"/>
                      </a:solidFill>
                    </a:lnL>
                    <a:lnR w="7620">
                      <a:solidFill>
                        <a:srgbClr val="00000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a:lnSpc>
                          <a:spcPct val="100000"/>
                        </a:lnSpc>
                        <a:spcBef>
                          <a:spcPts val="0"/>
                        </a:spcBef>
                        <a:spcAft>
                          <a:spcPts val="0"/>
                        </a:spcAft>
                        <a:buFont typeface="Arial"/>
                        <a:buChar char="•"/>
                      </a:pPr>
                      <a:r>
                        <a:rPr lang="en-US" sz="1200" b="0" i="0" u="none" strike="noStrike" noProof="0">
                          <a:solidFill>
                            <a:srgbClr val="000000"/>
                          </a:solidFill>
                          <a:effectLst/>
                        </a:rPr>
                        <a:t>Converts AI responses to speech </a:t>
                      </a:r>
                      <a:endParaRPr lang="en-US" sz="1200" b="0" i="0" u="none" strike="noStrike">
                        <a:solidFill>
                          <a:srgbClr val="000000"/>
                        </a:solidFill>
                        <a:effectLst/>
                        <a:latin typeface="Arial"/>
                      </a:endParaRPr>
                    </a:p>
                    <a:p>
                      <a:pPr marL="342900" lvl="0" indent="-342900">
                        <a:buFont typeface="Arial"/>
                        <a:buChar char="•"/>
                      </a:pPr>
                      <a:r>
                        <a:rPr lang="en-US" sz="1200" b="0" i="0" u="none" strike="noStrike" noProof="0">
                          <a:solidFill>
                            <a:srgbClr val="000000"/>
                          </a:solidFill>
                          <a:effectLst/>
                        </a:rPr>
                        <a:t> Outputs in the user's original language</a:t>
                      </a:r>
                      <a:endParaRPr lang="en-US" sz="1200"/>
                    </a:p>
                  </a:txBody>
                  <a:tcPr marL="38100" marR="38100" marT="19050" marB="19050">
                    <a:lnL w="7620">
                      <a:solidFill>
                        <a:srgbClr val="000000"/>
                      </a:solidFill>
                    </a:lnL>
                    <a:lnR w="7620">
                      <a:solidFill>
                        <a:srgbClr val="00000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tc>
                  <a:txBody>
                    <a:bodyPr/>
                    <a:lstStyle/>
                    <a:p>
                      <a:pPr lvl="0">
                        <a:buNone/>
                      </a:pPr>
                      <a:r>
                        <a:rPr lang="en-IN" sz="1200" b="0" i="0" u="none" strike="noStrike" noProof="0" dirty="0">
                          <a:solidFill>
                            <a:srgbClr val="000000"/>
                          </a:solidFill>
                          <a:effectLst/>
                        </a:rPr>
                        <a:t>Azure TTS, Google TTS</a:t>
                      </a:r>
                      <a:endParaRPr lang="en-US" sz="1200" dirty="0"/>
                    </a:p>
                  </a:txBody>
                  <a:tcPr marL="38100" marR="38100" marT="19050" marB="19050">
                    <a:lnL w="7620">
                      <a:solidFill>
                        <a:srgbClr val="000000"/>
                      </a:solidFill>
                    </a:lnL>
                    <a:lnR w="10157">
                      <a:solidFill>
                        <a:srgbClr val="FFAB40"/>
                      </a:solidFill>
                    </a:lnR>
                    <a:lnT w="10157">
                      <a:solidFill>
                        <a:srgbClr val="FFAB40"/>
                      </a:solidFill>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1836491128"/>
                  </a:ext>
                </a:extLst>
              </a:tr>
            </a:tbl>
          </a:graphicData>
        </a:graphic>
      </p:graphicFrame>
      <p:pic>
        <p:nvPicPr>
          <p:cNvPr id="7" name="object 2" descr="A purple and orange text&#10;&#10;AI-generated content may be incorrect.">
            <a:extLst>
              <a:ext uri="{FF2B5EF4-FFF2-40B4-BE49-F238E27FC236}">
                <a16:creationId xmlns:a16="http://schemas.microsoft.com/office/drawing/2014/main" id="{68C3498A-B9B0-C543-51DF-C0CC4A6695B0}"/>
              </a:ext>
            </a:extLst>
          </p:cNvPr>
          <p:cNvPicPr/>
          <p:nvPr/>
        </p:nvPicPr>
        <p:blipFill>
          <a:blip r:embed="rId2" cstate="print"/>
          <a:stretch>
            <a:fillRect/>
          </a:stretch>
        </p:blipFill>
        <p:spPr>
          <a:xfrm>
            <a:off x="7125809" y="79218"/>
            <a:ext cx="1903891" cy="582296"/>
          </a:xfrm>
          <a:prstGeom prst="rect">
            <a:avLst/>
          </a:prstGeom>
        </p:spPr>
      </p:pic>
    </p:spTree>
    <p:extLst>
      <p:ext uri="{BB962C8B-B14F-4D97-AF65-F5344CB8AC3E}">
        <p14:creationId xmlns:p14="http://schemas.microsoft.com/office/powerpoint/2010/main" val="195005312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7B417-C2E0-7449-59CC-B50379E4AF4B}"/>
              </a:ext>
            </a:extLst>
          </p:cNvPr>
          <p:cNvSpPr>
            <a:spLocks noGrp="1"/>
          </p:cNvSpPr>
          <p:nvPr>
            <p:ph type="title"/>
          </p:nvPr>
        </p:nvSpPr>
        <p:spPr>
          <a:xfrm>
            <a:off x="2579412" y="370366"/>
            <a:ext cx="8520600" cy="430887"/>
          </a:xfrm>
        </p:spPr>
        <p:txBody>
          <a:bodyPr spcFirstLastPara="1" wrap="square" lIns="0" tIns="0" rIns="0" bIns="0" anchor="t" anchorCtr="0">
            <a:spAutoFit/>
          </a:bodyPr>
          <a:lstStyle/>
          <a:p>
            <a:r>
              <a:rPr lang="en-IN" dirty="0"/>
              <a:t>Module Description</a:t>
            </a:r>
            <a:endParaRPr lang="en-US" dirty="0"/>
          </a:p>
        </p:txBody>
      </p:sp>
      <p:sp>
        <p:nvSpPr>
          <p:cNvPr id="5" name="Rectangle 1">
            <a:extLst>
              <a:ext uri="{FF2B5EF4-FFF2-40B4-BE49-F238E27FC236}">
                <a16:creationId xmlns:a16="http://schemas.microsoft.com/office/drawing/2014/main" id="{1402263E-9A41-D291-B317-E1AA8E81B7EC}"/>
              </a:ext>
            </a:extLst>
          </p:cNvPr>
          <p:cNvSpPr>
            <a:spLocks noChangeArrowheads="1"/>
          </p:cNvSpPr>
          <p:nvPr/>
        </p:nvSpPr>
        <p:spPr bwMode="auto">
          <a:xfrm>
            <a:off x="-2132107" y="2047695"/>
            <a:ext cx="19131758"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0" rIns="45720" bIns="0" numCol="1" anchor="ctr" anchorCtr="0" compatLnSpc="1">
            <a:prstTxWarp prst="textNoShape">
              <a:avLst/>
            </a:prstTxWarp>
            <a:spAutoFit/>
          </a:bodyPr>
          <a:lstStyle/>
          <a:p>
            <a:pPr defTabSz="457200" eaLnBrk="0" fontAlgn="base" hangingPunct="0">
              <a:spcBef>
                <a:spcPct val="0"/>
              </a:spcBef>
              <a:spcAft>
                <a:spcPct val="0"/>
              </a:spcAft>
              <a:buClrTx/>
            </a:pPr>
            <a:endParaRPr lang="en-US" altLang="en-US" sz="900">
              <a:solidFill>
                <a:schemeClr val="tx1"/>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9C505208-5542-EA89-2FCA-4ED6EEA90788}"/>
              </a:ext>
            </a:extLst>
          </p:cNvPr>
          <p:cNvGraphicFramePr>
            <a:graphicFrameLocks noGrp="1"/>
          </p:cNvGraphicFramePr>
          <p:nvPr>
            <p:extLst>
              <p:ext uri="{D42A27DB-BD31-4B8C-83A1-F6EECF244321}">
                <p14:modId xmlns:p14="http://schemas.microsoft.com/office/powerpoint/2010/main" val="1565530720"/>
              </p:ext>
            </p:extLst>
          </p:nvPr>
        </p:nvGraphicFramePr>
        <p:xfrm>
          <a:off x="194094" y="1241719"/>
          <a:ext cx="8587968" cy="2863021"/>
        </p:xfrm>
        <a:graphic>
          <a:graphicData uri="http://schemas.openxmlformats.org/drawingml/2006/table">
            <a:tbl>
              <a:tblPr/>
              <a:tblGrid>
                <a:gridCol w="2042492">
                  <a:extLst>
                    <a:ext uri="{9D8B030D-6E8A-4147-A177-3AD203B41FA5}">
                      <a16:colId xmlns:a16="http://schemas.microsoft.com/office/drawing/2014/main" val="732085897"/>
                    </a:ext>
                  </a:extLst>
                </a:gridCol>
                <a:gridCol w="3495987">
                  <a:extLst>
                    <a:ext uri="{9D8B030D-6E8A-4147-A177-3AD203B41FA5}">
                      <a16:colId xmlns:a16="http://schemas.microsoft.com/office/drawing/2014/main" val="489355845"/>
                    </a:ext>
                  </a:extLst>
                </a:gridCol>
                <a:gridCol w="3049489">
                  <a:extLst>
                    <a:ext uri="{9D8B030D-6E8A-4147-A177-3AD203B41FA5}">
                      <a16:colId xmlns:a16="http://schemas.microsoft.com/office/drawing/2014/main" val="231583671"/>
                    </a:ext>
                  </a:extLst>
                </a:gridCol>
              </a:tblGrid>
              <a:tr h="331180">
                <a:tc>
                  <a:txBody>
                    <a:bodyPr/>
                    <a:lstStyle/>
                    <a:p>
                      <a:pPr rtl="0" fontAlgn="ctr">
                        <a:buNone/>
                      </a:pPr>
                      <a:r>
                        <a:rPr lang="en-IN" sz="1400" b="1" i="0" u="none" strike="noStrike">
                          <a:solidFill>
                            <a:srgbClr val="FFFFFF"/>
                          </a:solidFill>
                          <a:effectLst/>
                          <a:latin typeface="Arial"/>
                        </a:rPr>
                        <a:t>Module</a:t>
                      </a:r>
                      <a:endParaRPr lang="en-IN" sz="1400">
                        <a:effectLst/>
                        <a:latin typeface="Arial"/>
                      </a:endParaRPr>
                    </a:p>
                  </a:txBody>
                  <a:tcPr marL="38100" marR="38100" marT="19050" marB="19050" anchor="ctr">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tc>
                  <a:txBody>
                    <a:bodyPr/>
                    <a:lstStyle/>
                    <a:p>
                      <a:pPr rtl="0" fontAlgn="ctr">
                        <a:buNone/>
                      </a:pPr>
                      <a:r>
                        <a:rPr lang="en-IN" sz="1400" b="1" i="0" u="none" strike="noStrike">
                          <a:solidFill>
                            <a:srgbClr val="FFFFFF"/>
                          </a:solidFill>
                          <a:effectLst/>
                          <a:latin typeface="Arial"/>
                        </a:rPr>
                        <a:t>Functionality</a:t>
                      </a:r>
                      <a:endParaRPr lang="en-IN" sz="1400">
                        <a:effectLst/>
                        <a:latin typeface="Arial"/>
                      </a:endParaRPr>
                    </a:p>
                  </a:txBody>
                  <a:tcPr marL="38100" marR="38100" marT="19050" marB="1905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tc>
                  <a:txBody>
                    <a:bodyPr/>
                    <a:lstStyle/>
                    <a:p>
                      <a:pPr rtl="0" fontAlgn="ctr">
                        <a:buNone/>
                      </a:pPr>
                      <a:r>
                        <a:rPr lang="en-IN" sz="1400" b="1" i="0" u="none" strike="noStrike">
                          <a:solidFill>
                            <a:srgbClr val="FFFFFF"/>
                          </a:solidFill>
                          <a:effectLst/>
                          <a:latin typeface="Arial"/>
                        </a:rPr>
                        <a:t>Tools/Libraries</a:t>
                      </a:r>
                      <a:endParaRPr lang="en-IN" sz="1400">
                        <a:effectLst/>
                        <a:latin typeface="Arial"/>
                      </a:endParaRPr>
                    </a:p>
                  </a:txBody>
                  <a:tcPr marL="38100" marR="38100" marT="19050" marB="19050" anchor="ctr">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AB40"/>
                    </a:solidFill>
                  </a:tcPr>
                </a:tc>
                <a:extLst>
                  <a:ext uri="{0D108BD9-81ED-4DB2-BD59-A6C34878D82A}">
                    <a16:rowId xmlns:a16="http://schemas.microsoft.com/office/drawing/2014/main" val="3660529611"/>
                  </a:ext>
                </a:extLst>
              </a:tr>
              <a:tr h="867482">
                <a:tc>
                  <a:txBody>
                    <a:bodyPr/>
                    <a:lstStyle/>
                    <a:p>
                      <a:pPr lvl="0" algn="l">
                        <a:lnSpc>
                          <a:spcPct val="100000"/>
                        </a:lnSpc>
                        <a:spcBef>
                          <a:spcPts val="0"/>
                        </a:spcBef>
                        <a:spcAft>
                          <a:spcPts val="0"/>
                        </a:spcAft>
                        <a:buNone/>
                      </a:pPr>
                      <a:r>
                        <a:rPr lang="en-IN" sz="1600" b="1" i="0" u="none" strike="noStrike" noProof="0" dirty="0">
                          <a:solidFill>
                            <a:srgbClr val="000000"/>
                          </a:solidFill>
                          <a:effectLst/>
                          <a:latin typeface="Calibri"/>
                        </a:rPr>
                        <a:t>Automation Trigger</a:t>
                      </a:r>
                      <a:endParaRPr lang="en-US" sz="1600" b="1" i="0" u="none" strike="noStrike" noProof="0" dirty="0">
                        <a:solidFill>
                          <a:srgbClr val="000000"/>
                        </a:solidFill>
                        <a:effectLst/>
                        <a:latin typeface="Calibri"/>
                      </a:endParaRPr>
                    </a:p>
                    <a:p>
                      <a:pPr lvl="0">
                        <a:buNone/>
                      </a:pPr>
                      <a:endParaRPr lang="en-IN" sz="1400" b="0" i="0" u="none" strike="noStrike" noProof="0" dirty="0">
                        <a:solidFill>
                          <a:srgbClr val="000000"/>
                        </a:solidFill>
                        <a:effectLst/>
                        <a:latin typeface="Arial"/>
                      </a:endParaRPr>
                    </a:p>
                    <a:p>
                      <a:pPr lvl="0">
                        <a:buNone/>
                      </a:pPr>
                      <a:endParaRPr lang="en-IN" sz="1400" b="0" i="0" u="none" strike="noStrike" noProof="0" dirty="0">
                        <a:solidFill>
                          <a:srgbClr val="000000"/>
                        </a:solidFill>
                        <a:effectLst/>
                      </a:endParaRPr>
                    </a:p>
                  </a:txBody>
                  <a:tcPr marL="38100" marR="38100" marT="19050" marB="19050" anchor="ctr">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rtl="0" fontAlgn="base">
                        <a:lnSpc>
                          <a:spcPct val="100000"/>
                        </a:lnSpc>
                        <a:spcBef>
                          <a:spcPts val="0"/>
                        </a:spcBef>
                        <a:spcAft>
                          <a:spcPts val="0"/>
                        </a:spcAft>
                        <a:buFont typeface="Arial"/>
                        <a:buChar char="•"/>
                      </a:pPr>
                      <a:r>
                        <a:rPr lang="en-US" sz="1400" b="0" i="0" u="none" strike="noStrike" noProof="0" dirty="0">
                          <a:solidFill>
                            <a:srgbClr val="000000"/>
                          </a:solidFill>
                          <a:effectLst/>
                          <a:latin typeface="Calibri"/>
                        </a:rPr>
                        <a:t> Executes backend workflows </a:t>
                      </a:r>
                      <a:endParaRPr lang="en-US" sz="1400" b="0" i="0" u="none" strike="noStrike" dirty="0">
                        <a:solidFill>
                          <a:srgbClr val="000000"/>
                        </a:solidFill>
                        <a:effectLst/>
                        <a:latin typeface="Arial"/>
                      </a:endParaRPr>
                    </a:p>
                    <a:p>
                      <a:pPr marL="342900" lvl="0" indent="-342900" algn="l">
                        <a:lnSpc>
                          <a:spcPct val="100000"/>
                        </a:lnSpc>
                        <a:spcBef>
                          <a:spcPts val="0"/>
                        </a:spcBef>
                        <a:spcAft>
                          <a:spcPts val="0"/>
                        </a:spcAft>
                        <a:buFont typeface="Arial"/>
                        <a:buChar char="•"/>
                      </a:pPr>
                      <a:r>
                        <a:rPr lang="en-US" sz="1400" b="0" i="0" u="none" strike="noStrike" noProof="0" dirty="0">
                          <a:solidFill>
                            <a:srgbClr val="000000"/>
                          </a:solidFill>
                          <a:effectLst/>
                          <a:latin typeface="Calibri"/>
                        </a:rPr>
                        <a:t> Examples: Booking, logging complaints, CRM updates</a:t>
                      </a:r>
                      <a:endParaRPr lang="en-US" sz="1400" dirty="0"/>
                    </a:p>
                  </a:txBody>
                  <a:tcPr marL="38100" marR="38100" marT="19050" marB="1905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lvl="0">
                        <a:buNone/>
                      </a:pPr>
                      <a:r>
                        <a:rPr lang="en-US" sz="1400" b="0" i="0" u="none" strike="noStrike" noProof="0">
                          <a:solidFill>
                            <a:srgbClr val="000000"/>
                          </a:solidFill>
                          <a:effectLst/>
                          <a:latin typeface="Calibri"/>
                        </a:rPr>
                        <a:t>Microsoft Power Automate</a:t>
                      </a:r>
                      <a:endParaRPr lang="en-US" sz="1400"/>
                    </a:p>
                  </a:txBody>
                  <a:tcPr marL="38100" marR="38100" marT="19050" marB="19050" anchor="ctr">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485726478"/>
                  </a:ext>
                </a:extLst>
              </a:tr>
              <a:tr h="645569">
                <a:tc>
                  <a:txBody>
                    <a:bodyPr/>
                    <a:lstStyle/>
                    <a:p>
                      <a:pPr lvl="0" algn="l">
                        <a:lnSpc>
                          <a:spcPct val="100000"/>
                        </a:lnSpc>
                        <a:spcBef>
                          <a:spcPts val="0"/>
                        </a:spcBef>
                        <a:spcAft>
                          <a:spcPts val="0"/>
                        </a:spcAft>
                        <a:buNone/>
                      </a:pPr>
                      <a:r>
                        <a:rPr lang="en-IN" sz="1400" b="1" i="0" u="none" strike="noStrike" noProof="0" dirty="0"/>
                        <a:t>Call Logging &amp; Data Storage</a:t>
                      </a:r>
                      <a:endParaRPr lang="en-US" sz="1400" b="1" dirty="0"/>
                    </a:p>
                  </a:txBody>
                  <a:tcPr marL="38100" marR="38100" marT="19050" marB="19050">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tc>
                  <a:txBody>
                    <a:bodyPr/>
                    <a:lstStyle/>
                    <a:p>
                      <a:pPr marL="342900" indent="-342900" rtl="0" fontAlgn="base">
                        <a:buFont typeface="Arial"/>
                        <a:buChar char="•"/>
                      </a:pPr>
                      <a:r>
                        <a:rPr lang="en-US" sz="1400" b="0" i="0" u="none" strike="noStrike" noProof="0" dirty="0">
                          <a:solidFill>
                            <a:srgbClr val="000000"/>
                          </a:solidFill>
                          <a:effectLst/>
                          <a:latin typeface="Calibri"/>
                        </a:rPr>
                        <a:t>Stores transcripts, intents, timestamps, insights </a:t>
                      </a:r>
                      <a:endParaRPr lang="en-US" sz="1400" b="0" i="0" u="none" strike="noStrike" noProof="0" dirty="0">
                        <a:solidFill>
                          <a:srgbClr val="000000"/>
                        </a:solidFill>
                        <a:effectLst/>
                      </a:endParaRPr>
                    </a:p>
                    <a:p>
                      <a:pPr marL="342900" lvl="0" indent="-342900" algn="l">
                        <a:lnSpc>
                          <a:spcPct val="100000"/>
                        </a:lnSpc>
                        <a:spcBef>
                          <a:spcPts val="0"/>
                        </a:spcBef>
                        <a:spcAft>
                          <a:spcPts val="0"/>
                        </a:spcAft>
                        <a:buFont typeface="Arial"/>
                        <a:buChar char="•"/>
                      </a:pPr>
                      <a:r>
                        <a:rPr lang="en-US" sz="1400" b="0" i="0" u="none" strike="noStrike" noProof="0" dirty="0">
                          <a:solidFill>
                            <a:srgbClr val="000000"/>
                          </a:solidFill>
                          <a:effectLst/>
                          <a:latin typeface="Calibri"/>
                        </a:rPr>
                        <a:t>Secures storage of call data and metadata</a:t>
                      </a:r>
                      <a:endParaRPr lang="en-US" sz="1400" dirty="0"/>
                    </a:p>
                  </a:txBody>
                  <a:tcPr marL="38100" marR="38100" marT="19050" marB="1905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tc>
                  <a:txBody>
                    <a:bodyPr/>
                    <a:lstStyle/>
                    <a:p>
                      <a:pPr lvl="0">
                        <a:buNone/>
                      </a:pPr>
                      <a:r>
                        <a:rPr lang="en-IN" sz="1400" b="0" i="0" u="none" strike="noStrike" noProof="0">
                          <a:solidFill>
                            <a:srgbClr val="000000"/>
                          </a:solidFill>
                          <a:effectLst/>
                          <a:latin typeface="Calibri"/>
                        </a:rPr>
                        <a:t>Microsoft Dataverse</a:t>
                      </a:r>
                      <a:endParaRPr lang="en-US" sz="1400"/>
                    </a:p>
                  </a:txBody>
                  <a:tcPr marL="38100" marR="38100" marT="19050" marB="19050">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FFF"/>
                    </a:solidFill>
                  </a:tcPr>
                </a:tc>
                <a:extLst>
                  <a:ext uri="{0D108BD9-81ED-4DB2-BD59-A6C34878D82A}">
                    <a16:rowId xmlns:a16="http://schemas.microsoft.com/office/drawing/2014/main" val="3961247607"/>
                  </a:ext>
                </a:extLst>
              </a:tr>
              <a:tr h="986179">
                <a:tc>
                  <a:txBody>
                    <a:bodyPr/>
                    <a:lstStyle/>
                    <a:p>
                      <a:pPr lvl="0">
                        <a:buNone/>
                      </a:pPr>
                      <a:r>
                        <a:rPr lang="en-IN" sz="1600" b="1" i="0" u="none" strike="noStrike" noProof="0" dirty="0">
                          <a:solidFill>
                            <a:srgbClr val="000000"/>
                          </a:solidFill>
                          <a:effectLst/>
                          <a:latin typeface="Calibri"/>
                        </a:rPr>
                        <a:t>Security &amp; Compliance</a:t>
                      </a:r>
                      <a:endParaRPr lang="en-US" sz="1600" b="1" dirty="0"/>
                    </a:p>
                  </a:txBody>
                  <a:tcPr marL="38100" marR="38100" marT="19050" marB="19050">
                    <a:lnL w="10157" cap="flat" cmpd="sng" algn="ctr">
                      <a:solidFill>
                        <a:srgbClr val="FFAB4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marL="342900" lvl="0" indent="-342900" algn="l" rtl="0" fontAlgn="base">
                        <a:lnSpc>
                          <a:spcPct val="100000"/>
                        </a:lnSpc>
                        <a:spcBef>
                          <a:spcPts val="0"/>
                        </a:spcBef>
                        <a:spcAft>
                          <a:spcPts val="0"/>
                        </a:spcAft>
                        <a:buFont typeface="Arial"/>
                        <a:buChar char="•"/>
                      </a:pPr>
                      <a:r>
                        <a:rPr lang="en-US" sz="1400" b="0" i="0" u="none" strike="noStrike" noProof="0">
                          <a:solidFill>
                            <a:srgbClr val="000000"/>
                          </a:solidFill>
                          <a:effectLst/>
                          <a:latin typeface="Calibri"/>
                        </a:rPr>
                        <a:t>Ensures secure data handling </a:t>
                      </a:r>
                      <a:endParaRPr lang="en-US" sz="1400" b="0" i="0" u="none" strike="noStrike" noProof="0">
                        <a:solidFill>
                          <a:srgbClr val="000000"/>
                        </a:solidFill>
                        <a:effectLst/>
                      </a:endParaRPr>
                    </a:p>
                    <a:p>
                      <a:pPr marL="342900" lvl="0" indent="-342900" algn="l">
                        <a:lnSpc>
                          <a:spcPct val="100000"/>
                        </a:lnSpc>
                        <a:spcBef>
                          <a:spcPts val="0"/>
                        </a:spcBef>
                        <a:spcAft>
                          <a:spcPts val="0"/>
                        </a:spcAft>
                        <a:buFont typeface="Arial"/>
                        <a:buChar char="•"/>
                      </a:pPr>
                      <a:r>
                        <a:rPr lang="en-US" sz="1400" b="0" i="0" u="none" strike="noStrike" noProof="0">
                          <a:solidFill>
                            <a:srgbClr val="000000"/>
                          </a:solidFill>
                          <a:effectLst/>
                          <a:latin typeface="Calibri"/>
                        </a:rPr>
                        <a:t>Secure API communication </a:t>
                      </a:r>
                      <a:endParaRPr lang="en-US" sz="1400"/>
                    </a:p>
                    <a:p>
                      <a:pPr marL="342900" lvl="0" indent="-342900" algn="l">
                        <a:lnSpc>
                          <a:spcPct val="100000"/>
                        </a:lnSpc>
                        <a:spcBef>
                          <a:spcPts val="0"/>
                        </a:spcBef>
                        <a:spcAft>
                          <a:spcPts val="0"/>
                        </a:spcAft>
                        <a:buFont typeface="Arial"/>
                        <a:buChar char="•"/>
                      </a:pPr>
                      <a:r>
                        <a:rPr lang="en-US" sz="1400" b="0" i="0" u="none" strike="noStrike" noProof="0">
                          <a:solidFill>
                            <a:srgbClr val="000000"/>
                          </a:solidFill>
                          <a:effectLst/>
                          <a:latin typeface="Calibri"/>
                        </a:rPr>
                        <a:t>Encrypted storage </a:t>
                      </a:r>
                      <a:endParaRPr lang="en-US" sz="1400"/>
                    </a:p>
                    <a:p>
                      <a:pPr marL="342900" lvl="0" indent="-342900" algn="l">
                        <a:lnSpc>
                          <a:spcPct val="100000"/>
                        </a:lnSpc>
                        <a:spcBef>
                          <a:spcPts val="0"/>
                        </a:spcBef>
                        <a:spcAft>
                          <a:spcPts val="0"/>
                        </a:spcAft>
                        <a:buFont typeface="Arial"/>
                        <a:buChar char="•"/>
                      </a:pPr>
                      <a:r>
                        <a:rPr lang="en-US" sz="1400" b="0" i="0" u="none" strike="noStrike" noProof="0">
                          <a:solidFill>
                            <a:srgbClr val="000000"/>
                          </a:solidFill>
                          <a:effectLst/>
                          <a:latin typeface="Calibri"/>
                        </a:rPr>
                        <a:t>Compliance with telecom regulations</a:t>
                      </a:r>
                      <a:endParaRPr lang="en-US" sz="1400"/>
                    </a:p>
                  </a:txBody>
                  <a:tcPr marL="38100" marR="38100" marT="19050" marB="19050">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tc>
                  <a:txBody>
                    <a:bodyPr/>
                    <a:lstStyle/>
                    <a:p>
                      <a:pPr lvl="0">
                        <a:buNone/>
                      </a:pPr>
                      <a:r>
                        <a:rPr lang="en-IN" sz="1400" b="0" i="0" u="none" strike="noStrike" noProof="0" dirty="0">
                          <a:solidFill>
                            <a:srgbClr val="000000"/>
                          </a:solidFill>
                          <a:effectLst/>
                        </a:rPr>
                        <a:t>Protocol standards, Encryption methods</a:t>
                      </a:r>
                      <a:endParaRPr lang="en-US" sz="1400" dirty="0"/>
                    </a:p>
                  </a:txBody>
                  <a:tcPr marL="38100" marR="38100" marT="19050" marB="19050">
                    <a:lnL w="7620" cap="flat" cmpd="sng" algn="ctr">
                      <a:solidFill>
                        <a:srgbClr val="000000"/>
                      </a:solidFill>
                      <a:prstDash val="solid"/>
                      <a:round/>
                      <a:headEnd type="none" w="med" len="med"/>
                      <a:tailEnd type="none" w="med" len="med"/>
                    </a:lnL>
                    <a:lnR w="10157" cap="flat" cmpd="sng" algn="ctr">
                      <a:solidFill>
                        <a:srgbClr val="FFAB40"/>
                      </a:solidFill>
                      <a:prstDash val="solid"/>
                      <a:round/>
                      <a:headEnd type="none" w="med" len="med"/>
                      <a:tailEnd type="none" w="med" len="med"/>
                    </a:lnR>
                    <a:lnT w="10157" cap="flat" cmpd="sng" algn="ctr">
                      <a:solidFill>
                        <a:srgbClr val="FFAB40"/>
                      </a:solidFill>
                      <a:prstDash val="solid"/>
                      <a:round/>
                      <a:headEnd type="none" w="med" len="med"/>
                      <a:tailEnd type="none" w="med" len="med"/>
                    </a:lnT>
                    <a:lnB w="10157" cap="flat" cmpd="sng" algn="ctr">
                      <a:solidFill>
                        <a:srgbClr val="FFAB40"/>
                      </a:solidFill>
                      <a:prstDash val="solid"/>
                      <a:round/>
                      <a:headEnd type="none" w="med" len="med"/>
                      <a:tailEnd type="none" w="med" len="med"/>
                    </a:lnB>
                    <a:solidFill>
                      <a:srgbClr val="FFF1E8"/>
                    </a:solidFill>
                  </a:tcPr>
                </a:tc>
                <a:extLst>
                  <a:ext uri="{0D108BD9-81ED-4DB2-BD59-A6C34878D82A}">
                    <a16:rowId xmlns:a16="http://schemas.microsoft.com/office/drawing/2014/main" val="3246620835"/>
                  </a:ext>
                </a:extLst>
              </a:tr>
            </a:tbl>
          </a:graphicData>
        </a:graphic>
      </p:graphicFrame>
      <p:pic>
        <p:nvPicPr>
          <p:cNvPr id="9" name="object 2" descr="A purple and orange text&#10;&#10;AI-generated content may be incorrect.">
            <a:extLst>
              <a:ext uri="{FF2B5EF4-FFF2-40B4-BE49-F238E27FC236}">
                <a16:creationId xmlns:a16="http://schemas.microsoft.com/office/drawing/2014/main" id="{6254E6BC-A0B7-2FE8-1C4F-C2E790914B95}"/>
              </a:ext>
            </a:extLst>
          </p:cNvPr>
          <p:cNvPicPr/>
          <p:nvPr/>
        </p:nvPicPr>
        <p:blipFill>
          <a:blip r:embed="rId2" cstate="print"/>
          <a:stretch>
            <a:fillRect/>
          </a:stretch>
        </p:blipFill>
        <p:spPr>
          <a:xfrm>
            <a:off x="7125809" y="79218"/>
            <a:ext cx="1903891" cy="582296"/>
          </a:xfrm>
          <a:prstGeom prst="rect">
            <a:avLst/>
          </a:prstGeom>
        </p:spPr>
      </p:pic>
    </p:spTree>
    <p:extLst>
      <p:ext uri="{BB962C8B-B14F-4D97-AF65-F5344CB8AC3E}">
        <p14:creationId xmlns:p14="http://schemas.microsoft.com/office/powerpoint/2010/main" val="257814059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5D82D008-F9EA-88E9-DBA9-155D3D5A85DD}"/>
            </a:ext>
          </a:extLst>
        </p:cNvPr>
        <p:cNvGrpSpPr/>
        <p:nvPr/>
      </p:nvGrpSpPr>
      <p:grpSpPr>
        <a:xfrm>
          <a:off x="0" y="0"/>
          <a:ext cx="0" cy="0"/>
          <a:chOff x="0" y="0"/>
          <a:chExt cx="0" cy="0"/>
        </a:xfrm>
      </p:grpSpPr>
      <p:sp>
        <p:nvSpPr>
          <p:cNvPr id="3" name="AutoShape 4" descr="3D PCB of IoT Energy Meter">
            <a:extLst>
              <a:ext uri="{FF2B5EF4-FFF2-40B4-BE49-F238E27FC236}">
                <a16:creationId xmlns:a16="http://schemas.microsoft.com/office/drawing/2014/main" id="{CF9C2E63-46C5-16FD-9DD4-D62F581073F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0E74160-0724-56C7-8F0A-B88BA9F742FC}"/>
              </a:ext>
            </a:extLst>
          </p:cNvPr>
          <p:cNvSpPr txBox="1"/>
          <p:nvPr/>
        </p:nvSpPr>
        <p:spPr>
          <a:xfrm>
            <a:off x="2914175" y="4521452"/>
            <a:ext cx="2836126" cy="307777"/>
          </a:xfrm>
          <a:prstGeom prst="rect">
            <a:avLst/>
          </a:prstGeom>
          <a:noFill/>
        </p:spPr>
        <p:txBody>
          <a:bodyPr wrap="square">
            <a:spAutoFit/>
          </a:bodyPr>
          <a:lstStyle/>
          <a:p>
            <a:pPr algn="ctr"/>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Fig  </a:t>
            </a:r>
            <a:r>
              <a:rPr lang="en-US" dirty="0">
                <a:solidFill>
                  <a:schemeClr val="tx1"/>
                </a:solidFill>
                <a:latin typeface="Times New Roman" panose="02020603050405020304" pitchFamily="18" charset="0"/>
                <a:ea typeface="Montserrat"/>
                <a:cs typeface="Times New Roman" panose="02020603050405020304" pitchFamily="18" charset="0"/>
                <a:sym typeface="Montserrat"/>
              </a:rPr>
              <a:t>Call Interface Logic</a:t>
            </a:r>
            <a:endParaRPr lang="en-US" dirty="0"/>
          </a:p>
        </p:txBody>
      </p:sp>
      <p:sp>
        <p:nvSpPr>
          <p:cNvPr id="9" name="Google Shape;119;p20">
            <a:extLst>
              <a:ext uri="{FF2B5EF4-FFF2-40B4-BE49-F238E27FC236}">
                <a16:creationId xmlns:a16="http://schemas.microsoft.com/office/drawing/2014/main" id="{1E688BA5-BBD4-3D7F-2F6A-D96A18D46B40}"/>
              </a:ext>
            </a:extLst>
          </p:cNvPr>
          <p:cNvSpPr txBox="1">
            <a:spLocks/>
          </p:cNvSpPr>
          <p:nvPr/>
        </p:nvSpPr>
        <p:spPr>
          <a:xfrm>
            <a:off x="2914175" y="-14383"/>
            <a:ext cx="3315600" cy="538365"/>
          </a:xfrm>
          <a:prstGeom prst="rect">
            <a:avLst/>
          </a:prstGeom>
          <a:noFill/>
          <a:ln>
            <a:noFill/>
          </a:ln>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400" b="1" dirty="0">
                <a:latin typeface="Times New Roman" panose="02020603050405020304" pitchFamily="18" charset="0"/>
                <a:cs typeface="Times New Roman" panose="02020603050405020304" pitchFamily="18" charset="0"/>
              </a:rPr>
              <a:t>Project Screenshots</a:t>
            </a:r>
            <a:endParaRPr lang="en-US" sz="2400" b="1" dirty="0">
              <a:latin typeface="Montserrat"/>
              <a:ea typeface="Montserrat"/>
              <a:cs typeface="Montserrat"/>
              <a:sym typeface="Montserrat"/>
            </a:endParaRPr>
          </a:p>
        </p:txBody>
      </p:sp>
      <p:pic>
        <p:nvPicPr>
          <p:cNvPr id="6" name="Picture 5" descr="A screen shot of a computer&#10;&#10;AI-generated content may be incorrect.">
            <a:extLst>
              <a:ext uri="{FF2B5EF4-FFF2-40B4-BE49-F238E27FC236}">
                <a16:creationId xmlns:a16="http://schemas.microsoft.com/office/drawing/2014/main" id="{69CF7208-5472-D200-EE03-D261301E9663}"/>
              </a:ext>
            </a:extLst>
          </p:cNvPr>
          <p:cNvPicPr>
            <a:picLocks noChangeAspect="1"/>
          </p:cNvPicPr>
          <p:nvPr/>
        </p:nvPicPr>
        <p:blipFill>
          <a:blip r:embed="rId3"/>
          <a:stretch>
            <a:fillRect/>
          </a:stretch>
        </p:blipFill>
        <p:spPr>
          <a:xfrm>
            <a:off x="1294209" y="569348"/>
            <a:ext cx="6278166" cy="3923854"/>
          </a:xfrm>
          <a:prstGeom prst="rect">
            <a:avLst/>
          </a:prstGeom>
        </p:spPr>
      </p:pic>
    </p:spTree>
    <p:extLst>
      <p:ext uri="{BB962C8B-B14F-4D97-AF65-F5344CB8AC3E}">
        <p14:creationId xmlns:p14="http://schemas.microsoft.com/office/powerpoint/2010/main" val="428028338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D3D088C-33A7-C055-E7C5-8CF12B84386A}"/>
            </a:ext>
          </a:extLst>
        </p:cNvPr>
        <p:cNvGrpSpPr/>
        <p:nvPr/>
      </p:nvGrpSpPr>
      <p:grpSpPr>
        <a:xfrm>
          <a:off x="0" y="0"/>
          <a:ext cx="0" cy="0"/>
          <a:chOff x="0" y="0"/>
          <a:chExt cx="0" cy="0"/>
        </a:xfrm>
      </p:grpSpPr>
      <p:sp>
        <p:nvSpPr>
          <p:cNvPr id="3" name="AutoShape 4" descr="3D PCB of IoT Energy Meter">
            <a:extLst>
              <a:ext uri="{FF2B5EF4-FFF2-40B4-BE49-F238E27FC236}">
                <a16:creationId xmlns:a16="http://schemas.microsoft.com/office/drawing/2014/main" id="{A26E6B87-31D2-80C6-1287-8FCB02B78A3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BE8D31C-0BBF-291D-BAA5-CE1B165EBC82}"/>
              </a:ext>
            </a:extLst>
          </p:cNvPr>
          <p:cNvSpPr txBox="1"/>
          <p:nvPr/>
        </p:nvSpPr>
        <p:spPr>
          <a:xfrm>
            <a:off x="2914175" y="4521452"/>
            <a:ext cx="2836126" cy="307777"/>
          </a:xfrm>
          <a:prstGeom prst="rect">
            <a:avLst/>
          </a:prstGeom>
          <a:noFill/>
        </p:spPr>
        <p:txBody>
          <a:bodyPr wrap="square">
            <a:spAutoFit/>
          </a:bodyPr>
          <a:lstStyle/>
          <a:p>
            <a:pPr algn="ctr"/>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Fig . </a:t>
            </a:r>
            <a:r>
              <a:rPr lang="en-US" dirty="0">
                <a:solidFill>
                  <a:schemeClr val="tx1"/>
                </a:solidFill>
                <a:latin typeface="Times New Roman" panose="02020603050405020304" pitchFamily="18" charset="0"/>
                <a:ea typeface="Montserrat"/>
                <a:cs typeface="Times New Roman" panose="02020603050405020304" pitchFamily="18" charset="0"/>
                <a:sym typeface="Montserrat"/>
              </a:rPr>
              <a:t>Call Interface Logic</a:t>
            </a:r>
            <a:endParaRPr lang="en-US" dirty="0"/>
          </a:p>
        </p:txBody>
      </p:sp>
      <p:sp>
        <p:nvSpPr>
          <p:cNvPr id="9" name="Google Shape;119;p20">
            <a:extLst>
              <a:ext uri="{FF2B5EF4-FFF2-40B4-BE49-F238E27FC236}">
                <a16:creationId xmlns:a16="http://schemas.microsoft.com/office/drawing/2014/main" id="{607B3A2C-8F8E-C8B8-4CAD-6A379F3A7B85}"/>
              </a:ext>
            </a:extLst>
          </p:cNvPr>
          <p:cNvSpPr txBox="1">
            <a:spLocks/>
          </p:cNvSpPr>
          <p:nvPr/>
        </p:nvSpPr>
        <p:spPr>
          <a:xfrm>
            <a:off x="2914175" y="-14383"/>
            <a:ext cx="3315600" cy="538365"/>
          </a:xfrm>
          <a:prstGeom prst="rect">
            <a:avLst/>
          </a:prstGeom>
          <a:noFill/>
          <a:ln>
            <a:noFill/>
          </a:ln>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400" b="1" dirty="0">
                <a:latin typeface="Times New Roman" panose="02020603050405020304" pitchFamily="18" charset="0"/>
                <a:cs typeface="Times New Roman" panose="02020603050405020304" pitchFamily="18" charset="0"/>
              </a:rPr>
              <a:t>Project Screenshots</a:t>
            </a:r>
            <a:endParaRPr lang="en-US" sz="2400" b="1" dirty="0">
              <a:latin typeface="Montserrat"/>
              <a:ea typeface="Montserrat"/>
              <a:cs typeface="Montserrat"/>
              <a:sym typeface="Montserrat"/>
            </a:endParaRPr>
          </a:p>
        </p:txBody>
      </p:sp>
      <p:pic>
        <p:nvPicPr>
          <p:cNvPr id="4" name="Picture 3">
            <a:extLst>
              <a:ext uri="{FF2B5EF4-FFF2-40B4-BE49-F238E27FC236}">
                <a16:creationId xmlns:a16="http://schemas.microsoft.com/office/drawing/2014/main" id="{8D7A52E6-26B8-DD90-EE6B-558F14254574}"/>
              </a:ext>
            </a:extLst>
          </p:cNvPr>
          <p:cNvPicPr>
            <a:picLocks noChangeAspect="1"/>
          </p:cNvPicPr>
          <p:nvPr/>
        </p:nvPicPr>
        <p:blipFill>
          <a:blip r:embed="rId3"/>
          <a:stretch>
            <a:fillRect/>
          </a:stretch>
        </p:blipFill>
        <p:spPr>
          <a:xfrm>
            <a:off x="1235869" y="824764"/>
            <a:ext cx="6229775" cy="3493972"/>
          </a:xfrm>
          <a:prstGeom prst="rect">
            <a:avLst/>
          </a:prstGeom>
        </p:spPr>
      </p:pic>
    </p:spTree>
    <p:extLst>
      <p:ext uri="{BB962C8B-B14F-4D97-AF65-F5344CB8AC3E}">
        <p14:creationId xmlns:p14="http://schemas.microsoft.com/office/powerpoint/2010/main" val="86807632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8BB86E2-1544-B138-437D-5F9593DA0D34}"/>
            </a:ext>
          </a:extLst>
        </p:cNvPr>
        <p:cNvGrpSpPr/>
        <p:nvPr/>
      </p:nvGrpSpPr>
      <p:grpSpPr>
        <a:xfrm>
          <a:off x="0" y="0"/>
          <a:ext cx="0" cy="0"/>
          <a:chOff x="0" y="0"/>
          <a:chExt cx="0" cy="0"/>
        </a:xfrm>
      </p:grpSpPr>
      <p:sp>
        <p:nvSpPr>
          <p:cNvPr id="123" name="Google Shape;123;p20">
            <a:extLst>
              <a:ext uri="{FF2B5EF4-FFF2-40B4-BE49-F238E27FC236}">
                <a16:creationId xmlns:a16="http://schemas.microsoft.com/office/drawing/2014/main" id="{46F801CC-7639-CCDA-8353-390CF60B089C}"/>
              </a:ext>
            </a:extLst>
          </p:cNvPr>
          <p:cNvSpPr/>
          <p:nvPr/>
        </p:nvSpPr>
        <p:spPr>
          <a:xfrm>
            <a:off x="-25" y="4917825"/>
            <a:ext cx="9144000" cy="2256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AutoShape 4" descr="3D PCB of IoT Energy Meter">
            <a:extLst>
              <a:ext uri="{FF2B5EF4-FFF2-40B4-BE49-F238E27FC236}">
                <a16:creationId xmlns:a16="http://schemas.microsoft.com/office/drawing/2014/main" id="{1E264153-E26B-DB7A-FBBB-830DCFB2831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5C4C0BD-6DE2-856F-3FDA-2AA80464C2AE}"/>
              </a:ext>
            </a:extLst>
          </p:cNvPr>
          <p:cNvSpPr txBox="1"/>
          <p:nvPr/>
        </p:nvSpPr>
        <p:spPr>
          <a:xfrm>
            <a:off x="3153937" y="4424448"/>
            <a:ext cx="3423844" cy="307777"/>
          </a:xfrm>
          <a:prstGeom prst="rect">
            <a:avLst/>
          </a:prstGeom>
          <a:noFill/>
        </p:spPr>
        <p:txBody>
          <a:bodyPr wrap="square">
            <a:spAutoFit/>
          </a:bodyPr>
          <a:lstStyle/>
          <a:p>
            <a:pPr algn="ctr"/>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Fig 5. MongoDB (backend demonstration)</a:t>
            </a:r>
            <a:endParaRPr lang="en-US" dirty="0"/>
          </a:p>
        </p:txBody>
      </p:sp>
      <p:pic>
        <p:nvPicPr>
          <p:cNvPr id="8" name="Picture 7" descr="A screenshot of a computer&#10;&#10;AI-generated content may be incorrect.">
            <a:extLst>
              <a:ext uri="{FF2B5EF4-FFF2-40B4-BE49-F238E27FC236}">
                <a16:creationId xmlns:a16="http://schemas.microsoft.com/office/drawing/2014/main" id="{75EAA8F2-C45E-826A-D508-F47DAFEDE019}"/>
              </a:ext>
            </a:extLst>
          </p:cNvPr>
          <p:cNvPicPr>
            <a:picLocks noChangeAspect="1"/>
          </p:cNvPicPr>
          <p:nvPr/>
        </p:nvPicPr>
        <p:blipFill>
          <a:blip r:embed="rId3"/>
          <a:stretch>
            <a:fillRect/>
          </a:stretch>
        </p:blipFill>
        <p:spPr>
          <a:xfrm>
            <a:off x="258255" y="1126194"/>
            <a:ext cx="5791363" cy="3195912"/>
          </a:xfrm>
          <a:prstGeom prst="rect">
            <a:avLst/>
          </a:prstGeom>
        </p:spPr>
      </p:pic>
      <p:sp>
        <p:nvSpPr>
          <p:cNvPr id="15" name="TextBox 14">
            <a:extLst>
              <a:ext uri="{FF2B5EF4-FFF2-40B4-BE49-F238E27FC236}">
                <a16:creationId xmlns:a16="http://schemas.microsoft.com/office/drawing/2014/main" id="{E67BC055-E2F0-E341-8899-4FBC8D5238B6}"/>
              </a:ext>
            </a:extLst>
          </p:cNvPr>
          <p:cNvSpPr txBox="1"/>
          <p:nvPr/>
        </p:nvSpPr>
        <p:spPr>
          <a:xfrm>
            <a:off x="2409230" y="180442"/>
            <a:ext cx="3920133"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Project Screenshots</a:t>
            </a:r>
            <a:endParaRPr lang="en-US" sz="2400" b="1" dirty="0">
              <a:latin typeface="Montserrat"/>
              <a:ea typeface="Montserrat"/>
              <a:cs typeface="Montserrat"/>
              <a:sym typeface="Montserrat"/>
            </a:endParaRPr>
          </a:p>
        </p:txBody>
      </p:sp>
      <p:pic>
        <p:nvPicPr>
          <p:cNvPr id="17" name="Picture 16" descr="A screenshot of a computer&#10;&#10;AI-generated content may be incorrect.">
            <a:extLst>
              <a:ext uri="{FF2B5EF4-FFF2-40B4-BE49-F238E27FC236}">
                <a16:creationId xmlns:a16="http://schemas.microsoft.com/office/drawing/2014/main" id="{E0B36EE2-4E9A-50C9-70A2-D336A17938D6}"/>
              </a:ext>
            </a:extLst>
          </p:cNvPr>
          <p:cNvPicPr>
            <a:picLocks noChangeAspect="1"/>
          </p:cNvPicPr>
          <p:nvPr/>
        </p:nvPicPr>
        <p:blipFill>
          <a:blip r:embed="rId4"/>
          <a:stretch>
            <a:fillRect/>
          </a:stretch>
        </p:blipFill>
        <p:spPr>
          <a:xfrm>
            <a:off x="6187452" y="1126194"/>
            <a:ext cx="2638425" cy="1520794"/>
          </a:xfrm>
          <a:prstGeom prst="rect">
            <a:avLst/>
          </a:prstGeom>
        </p:spPr>
      </p:pic>
    </p:spTree>
    <p:extLst>
      <p:ext uri="{BB962C8B-B14F-4D97-AF65-F5344CB8AC3E}">
        <p14:creationId xmlns:p14="http://schemas.microsoft.com/office/powerpoint/2010/main" val="339646434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C007962-9F27-AB4A-EFA6-FA760AD1F785}"/>
            </a:ext>
          </a:extLst>
        </p:cNvPr>
        <p:cNvGrpSpPr/>
        <p:nvPr/>
      </p:nvGrpSpPr>
      <p:grpSpPr>
        <a:xfrm>
          <a:off x="0" y="0"/>
          <a:ext cx="0" cy="0"/>
          <a:chOff x="0" y="0"/>
          <a:chExt cx="0" cy="0"/>
        </a:xfrm>
      </p:grpSpPr>
      <p:sp>
        <p:nvSpPr>
          <p:cNvPr id="3" name="AutoShape 4" descr="3D PCB of IoT Energy Meter">
            <a:extLst>
              <a:ext uri="{FF2B5EF4-FFF2-40B4-BE49-F238E27FC236}">
                <a16:creationId xmlns:a16="http://schemas.microsoft.com/office/drawing/2014/main" id="{E8553170-CAEC-CF5F-A604-E61F2762503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8C6D670-1E8B-540F-5D03-22DBB7FD8AC3}"/>
              </a:ext>
            </a:extLst>
          </p:cNvPr>
          <p:cNvSpPr txBox="1"/>
          <p:nvPr/>
        </p:nvSpPr>
        <p:spPr>
          <a:xfrm>
            <a:off x="3306337" y="4570572"/>
            <a:ext cx="2836126" cy="307777"/>
          </a:xfrm>
          <a:prstGeom prst="rect">
            <a:avLst/>
          </a:prstGeom>
          <a:noFill/>
        </p:spPr>
        <p:txBody>
          <a:bodyPr wrap="square">
            <a:spAutoFit/>
          </a:bodyPr>
          <a:lstStyle/>
          <a:p>
            <a:pPr algn="ctr"/>
            <a:r>
              <a:rPr lang="en-US" dirty="0"/>
              <a:t>Fig  AI assisted Call Preview</a:t>
            </a:r>
          </a:p>
        </p:txBody>
      </p:sp>
      <p:sp>
        <p:nvSpPr>
          <p:cNvPr id="10" name="Google Shape;119;p20">
            <a:extLst>
              <a:ext uri="{FF2B5EF4-FFF2-40B4-BE49-F238E27FC236}">
                <a16:creationId xmlns:a16="http://schemas.microsoft.com/office/drawing/2014/main" id="{1E688BA5-BBD4-3D7F-2F6A-D96A18D46B40}"/>
              </a:ext>
            </a:extLst>
          </p:cNvPr>
          <p:cNvSpPr txBox="1">
            <a:spLocks/>
          </p:cNvSpPr>
          <p:nvPr/>
        </p:nvSpPr>
        <p:spPr>
          <a:xfrm>
            <a:off x="3355963" y="30913"/>
            <a:ext cx="3315600" cy="7617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2400" b="1">
                <a:latin typeface="Times New Roman" panose="02020603050405020304" pitchFamily="18" charset="0"/>
                <a:cs typeface="Times New Roman" panose="02020603050405020304" pitchFamily="18" charset="0"/>
              </a:rPr>
              <a:t>Project Screenshots</a:t>
            </a:r>
            <a:endParaRPr lang="en-US" sz="2400" b="1" dirty="0">
              <a:latin typeface="Montserrat"/>
              <a:ea typeface="Montserrat"/>
              <a:cs typeface="Montserrat"/>
              <a:sym typeface="Montserrat"/>
            </a:endParaRPr>
          </a:p>
        </p:txBody>
      </p:sp>
      <p:pic>
        <p:nvPicPr>
          <p:cNvPr id="4" name="Picture 3" descr="A hand holding a cell phone&#10;&#10;AI-generated content may be incorrect.">
            <a:extLst>
              <a:ext uri="{FF2B5EF4-FFF2-40B4-BE49-F238E27FC236}">
                <a16:creationId xmlns:a16="http://schemas.microsoft.com/office/drawing/2014/main" id="{5170D9E6-1DF9-9605-30FD-2BCAFE1425C5}"/>
              </a:ext>
            </a:extLst>
          </p:cNvPr>
          <p:cNvPicPr>
            <a:picLocks noChangeAspect="1"/>
          </p:cNvPicPr>
          <p:nvPr/>
        </p:nvPicPr>
        <p:blipFill>
          <a:blip r:embed="rId3"/>
          <a:stretch>
            <a:fillRect/>
          </a:stretch>
        </p:blipFill>
        <p:spPr>
          <a:xfrm>
            <a:off x="3296543" y="667940"/>
            <a:ext cx="2855714" cy="3807619"/>
          </a:xfrm>
          <a:prstGeom prst="rect">
            <a:avLst/>
          </a:prstGeom>
        </p:spPr>
      </p:pic>
    </p:spTree>
    <p:extLst>
      <p:ext uri="{BB962C8B-B14F-4D97-AF65-F5344CB8AC3E}">
        <p14:creationId xmlns:p14="http://schemas.microsoft.com/office/powerpoint/2010/main" val="32457252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79AC28F-1495-996B-3C6E-73683812B725}"/>
            </a:ext>
          </a:extLst>
        </p:cNvPr>
        <p:cNvGrpSpPr/>
        <p:nvPr/>
      </p:nvGrpSpPr>
      <p:grpSpPr>
        <a:xfrm>
          <a:off x="0" y="0"/>
          <a:ext cx="0" cy="0"/>
          <a:chOff x="0" y="0"/>
          <a:chExt cx="0" cy="0"/>
        </a:xfrm>
      </p:grpSpPr>
      <p:sp>
        <p:nvSpPr>
          <p:cNvPr id="119" name="Google Shape;119;p20">
            <a:extLst>
              <a:ext uri="{FF2B5EF4-FFF2-40B4-BE49-F238E27FC236}">
                <a16:creationId xmlns:a16="http://schemas.microsoft.com/office/drawing/2014/main" id="{1E688BA5-BBD4-3D7F-2F6A-D96A18D46B40}"/>
              </a:ext>
            </a:extLst>
          </p:cNvPr>
          <p:cNvSpPr txBox="1">
            <a:spLocks noGrp="1"/>
          </p:cNvSpPr>
          <p:nvPr>
            <p:ph type="title" idx="4294967295"/>
          </p:nvPr>
        </p:nvSpPr>
        <p:spPr>
          <a:xfrm>
            <a:off x="2914175" y="-14383"/>
            <a:ext cx="3315600" cy="761700"/>
          </a:xfrm>
          <a:prstGeom prst="rect">
            <a:avLst/>
          </a:prstGeom>
        </p:spPr>
        <p:txBody>
          <a:bodyPr spcFirstLastPara="1" wrap="square" lIns="91425" tIns="91425" rIns="91425" bIns="91425" anchor="ctr" anchorCtr="0">
            <a:normAutofit/>
          </a:bodyPr>
          <a:lstStyle/>
          <a:p>
            <a:pPr algn="ctr"/>
            <a:r>
              <a:rPr lang="en-US" sz="2400" b="1" dirty="0">
                <a:latin typeface="Times New Roman" panose="02020603050405020304" pitchFamily="18" charset="0"/>
                <a:cs typeface="Times New Roman" panose="02020603050405020304" pitchFamily="18" charset="0"/>
              </a:rPr>
              <a:t>Project Screenshots</a:t>
            </a:r>
            <a:endParaRPr sz="2400" b="1" dirty="0">
              <a:latin typeface="Montserrat"/>
              <a:ea typeface="Montserrat"/>
              <a:cs typeface="Montserrat"/>
              <a:sym typeface="Montserrat"/>
            </a:endParaRPr>
          </a:p>
        </p:txBody>
      </p:sp>
      <p:sp>
        <p:nvSpPr>
          <p:cNvPr id="3" name="AutoShape 4" descr="3D PCB of IoT Energy Meter">
            <a:extLst>
              <a:ext uri="{FF2B5EF4-FFF2-40B4-BE49-F238E27FC236}">
                <a16:creationId xmlns:a16="http://schemas.microsoft.com/office/drawing/2014/main" id="{E82A8FCC-FC27-9685-8CD6-49C5784C571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497C253-6043-A756-37C5-B310C482A03A}"/>
              </a:ext>
            </a:extLst>
          </p:cNvPr>
          <p:cNvSpPr txBox="1"/>
          <p:nvPr/>
        </p:nvSpPr>
        <p:spPr>
          <a:xfrm>
            <a:off x="3153936" y="4424448"/>
            <a:ext cx="3011119" cy="307777"/>
          </a:xfrm>
          <a:prstGeom prst="rect">
            <a:avLst/>
          </a:prstGeom>
          <a:noFill/>
        </p:spPr>
        <p:txBody>
          <a:bodyPr wrap="square">
            <a:spAutoFit/>
          </a:bodyPr>
          <a:lstStyle/>
          <a:p>
            <a:pPr algn="ctr"/>
            <a:r>
              <a:rPr lang="en-US" sz="1400" dirty="0">
                <a:solidFill>
                  <a:schemeClr val="tx1"/>
                </a:solidFill>
                <a:latin typeface="Times New Roman" panose="02020603050405020304" pitchFamily="18" charset="0"/>
                <a:ea typeface="Montserrat"/>
                <a:cs typeface="Times New Roman" panose="02020603050405020304" pitchFamily="18" charset="0"/>
                <a:sym typeface="Montserrat"/>
              </a:rPr>
              <a:t>Fig  Sign in page and Call Processing</a:t>
            </a:r>
            <a:endParaRPr lang="en-US" dirty="0"/>
          </a:p>
        </p:txBody>
      </p:sp>
      <p:pic>
        <p:nvPicPr>
          <p:cNvPr id="7" name="Picture 6" descr="A screenshot of a computer&#10;&#10;AI-generated content may be incorrect.">
            <a:extLst>
              <a:ext uri="{FF2B5EF4-FFF2-40B4-BE49-F238E27FC236}">
                <a16:creationId xmlns:a16="http://schemas.microsoft.com/office/drawing/2014/main" id="{3F12C8DB-9B2F-96F3-645D-CF39FFECB2C4}"/>
              </a:ext>
            </a:extLst>
          </p:cNvPr>
          <p:cNvPicPr>
            <a:picLocks noChangeAspect="1"/>
          </p:cNvPicPr>
          <p:nvPr/>
        </p:nvPicPr>
        <p:blipFill>
          <a:blip r:embed="rId3"/>
          <a:stretch>
            <a:fillRect/>
          </a:stretch>
        </p:blipFill>
        <p:spPr>
          <a:xfrm>
            <a:off x="419195" y="890712"/>
            <a:ext cx="3942260" cy="3457031"/>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5D424F52-4DFA-6A6D-6E0D-CBD83831A944}"/>
              </a:ext>
            </a:extLst>
          </p:cNvPr>
          <p:cNvPicPr>
            <a:picLocks noChangeAspect="1"/>
          </p:cNvPicPr>
          <p:nvPr/>
        </p:nvPicPr>
        <p:blipFill>
          <a:blip r:embed="rId4"/>
          <a:stretch>
            <a:fillRect/>
          </a:stretch>
        </p:blipFill>
        <p:spPr>
          <a:xfrm>
            <a:off x="4572000" y="890713"/>
            <a:ext cx="4224243" cy="3457032"/>
          </a:xfrm>
          <a:prstGeom prst="rect">
            <a:avLst/>
          </a:prstGeom>
        </p:spPr>
      </p:pic>
      <p:sp>
        <p:nvSpPr>
          <p:cNvPr id="11" name="TextBox 10">
            <a:extLst>
              <a:ext uri="{FF2B5EF4-FFF2-40B4-BE49-F238E27FC236}">
                <a16:creationId xmlns:a16="http://schemas.microsoft.com/office/drawing/2014/main" id="{EAFC4039-5E75-CB08-C066-06D7F7231E6E}"/>
              </a:ext>
            </a:extLst>
          </p:cNvPr>
          <p:cNvSpPr txBox="1"/>
          <p:nvPr/>
        </p:nvSpPr>
        <p:spPr>
          <a:xfrm>
            <a:off x="350043" y="551818"/>
            <a:ext cx="4572000" cy="307777"/>
          </a:xfrm>
          <a:prstGeom prst="rect">
            <a:avLst/>
          </a:prstGeom>
          <a:noFill/>
        </p:spPr>
        <p:txBody>
          <a:bodyPr wrap="square">
            <a:spAutoFit/>
          </a:bodyPr>
          <a:lstStyle/>
          <a:p>
            <a:r>
              <a:rPr lang="en-IN" dirty="0"/>
              <a:t>https://flowcall.onrender.com/</a:t>
            </a:r>
          </a:p>
        </p:txBody>
      </p:sp>
    </p:spTree>
    <p:extLst>
      <p:ext uri="{BB962C8B-B14F-4D97-AF65-F5344CB8AC3E}">
        <p14:creationId xmlns:p14="http://schemas.microsoft.com/office/powerpoint/2010/main" val="278013169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16C68C-CF2E-F2F8-258E-0D20F7D25B4E}"/>
              </a:ext>
            </a:extLst>
          </p:cNvPr>
          <p:cNvSpPr txBox="1"/>
          <p:nvPr/>
        </p:nvSpPr>
        <p:spPr>
          <a:xfrm>
            <a:off x="304800" y="933450"/>
            <a:ext cx="8036943" cy="507831"/>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pPr algn="l"/>
            <a:r>
              <a:rPr lang="en-US" dirty="0">
                <a:latin typeface="Times New Roman"/>
                <a:cs typeface="Times New Roman"/>
              </a:rPr>
              <a:t> </a:t>
            </a:r>
          </a:p>
          <a:p>
            <a:endParaRPr lang="en-US" sz="1600" dirty="0">
              <a:latin typeface="Times New Roman"/>
              <a:cs typeface="Times New Roman"/>
            </a:endParaRPr>
          </a:p>
        </p:txBody>
      </p:sp>
      <p:sp>
        <p:nvSpPr>
          <p:cNvPr id="5" name="TextBox 4">
            <a:extLst>
              <a:ext uri="{FF2B5EF4-FFF2-40B4-BE49-F238E27FC236}">
                <a16:creationId xmlns:a16="http://schemas.microsoft.com/office/drawing/2014/main" id="{8CF96654-33EA-69A9-595F-F9C5DF2B44E9}"/>
              </a:ext>
            </a:extLst>
          </p:cNvPr>
          <p:cNvSpPr txBox="1"/>
          <p:nvPr/>
        </p:nvSpPr>
        <p:spPr>
          <a:xfrm>
            <a:off x="3271568" y="246931"/>
            <a:ext cx="2266590" cy="461665"/>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r>
              <a:rPr lang="en-US" sz="2700" b="1">
                <a:latin typeface="Times New Roman"/>
              </a:rPr>
              <a:t>Conclusion</a:t>
            </a:r>
            <a:endParaRPr lang="en-US" sz="2700" b="1"/>
          </a:p>
        </p:txBody>
      </p:sp>
      <p:pic>
        <p:nvPicPr>
          <p:cNvPr id="7" name="object 2" descr="A black background with orange and purple text&#10;&#10;AI-generated content may be incorrect.">
            <a:extLst>
              <a:ext uri="{FF2B5EF4-FFF2-40B4-BE49-F238E27FC236}">
                <a16:creationId xmlns:a16="http://schemas.microsoft.com/office/drawing/2014/main" id="{1C4BB3F4-4AC2-3CDC-AA76-02E622CCF751}"/>
              </a:ext>
            </a:extLst>
          </p:cNvPr>
          <p:cNvPicPr/>
          <p:nvPr/>
        </p:nvPicPr>
        <p:blipFill>
          <a:blip r:embed="rId2" cstate="print"/>
          <a:stretch>
            <a:fillRect/>
          </a:stretch>
        </p:blipFill>
        <p:spPr>
          <a:xfrm>
            <a:off x="7125809" y="79218"/>
            <a:ext cx="1887236" cy="791337"/>
          </a:xfrm>
          <a:prstGeom prst="rect">
            <a:avLst/>
          </a:prstGeom>
        </p:spPr>
      </p:pic>
      <p:sp>
        <p:nvSpPr>
          <p:cNvPr id="3" name="Rectangle 2">
            <a:extLst>
              <a:ext uri="{FF2B5EF4-FFF2-40B4-BE49-F238E27FC236}">
                <a16:creationId xmlns:a16="http://schemas.microsoft.com/office/drawing/2014/main" id="{0A249EDD-4F16-5EDC-DE9A-EDE0978BADD6}"/>
              </a:ext>
            </a:extLst>
          </p:cNvPr>
          <p:cNvSpPr>
            <a:spLocks noChangeArrowheads="1"/>
          </p:cNvSpPr>
          <p:nvPr/>
        </p:nvSpPr>
        <p:spPr bwMode="auto">
          <a:xfrm>
            <a:off x="332341" y="940308"/>
            <a:ext cx="868070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demonstrates that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voice assistant with chatbot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provide quick, human-like query resolution for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combining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Vapi for real-time voice capture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Twilio for communication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Make.com for automation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ensures smooth query handling with minimal manual intervention.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solution offers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24/7 availability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thereby reducing dependency on staff and ensuring timely student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cost-efficient, and future-ready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unlike traditional call center models that require continuous manpower.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potential enhancements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multilingual support, emotion recognition, and voice authentication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assistant can evolve into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comprehensive digital helpdesk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the college.</a:t>
            </a:r>
          </a:p>
        </p:txBody>
      </p:sp>
    </p:spTree>
    <p:extLst>
      <p:ext uri="{BB962C8B-B14F-4D97-AF65-F5344CB8AC3E}">
        <p14:creationId xmlns:p14="http://schemas.microsoft.com/office/powerpoint/2010/main" val="1606782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D0C70-A79F-3B28-07E7-3A7EAE0B92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2D58C1-CCBA-5E38-2739-31917A087E47}"/>
              </a:ext>
            </a:extLst>
          </p:cNvPr>
          <p:cNvSpPr txBox="1"/>
          <p:nvPr/>
        </p:nvSpPr>
        <p:spPr>
          <a:xfrm>
            <a:off x="304800" y="933450"/>
            <a:ext cx="8036943" cy="507831"/>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pPr algn="l"/>
            <a:r>
              <a:rPr lang="en-US" dirty="0">
                <a:latin typeface="Times New Roman"/>
                <a:cs typeface="Times New Roman"/>
              </a:rPr>
              <a:t> </a:t>
            </a:r>
          </a:p>
          <a:p>
            <a:endParaRPr lang="en-US" sz="1600" dirty="0">
              <a:latin typeface="Times New Roman"/>
              <a:cs typeface="Times New Roman"/>
            </a:endParaRPr>
          </a:p>
        </p:txBody>
      </p:sp>
      <p:sp>
        <p:nvSpPr>
          <p:cNvPr id="5" name="TextBox 4">
            <a:extLst>
              <a:ext uri="{FF2B5EF4-FFF2-40B4-BE49-F238E27FC236}">
                <a16:creationId xmlns:a16="http://schemas.microsoft.com/office/drawing/2014/main" id="{ACD6BF97-2884-D2C0-ADCF-2DABE7913527}"/>
              </a:ext>
            </a:extLst>
          </p:cNvPr>
          <p:cNvSpPr txBox="1"/>
          <p:nvPr/>
        </p:nvSpPr>
        <p:spPr>
          <a:xfrm>
            <a:off x="3271568" y="246931"/>
            <a:ext cx="2266590" cy="461665"/>
          </a:xfrm>
          <a:prstGeom prst="rect">
            <a:avLst/>
          </a:prstGeom>
          <a:noFill/>
        </p:spPr>
        <p:txBody>
          <a:bodyPr rot="0" spcFirstLastPara="0" vertOverflow="overflow" horzOverflow="overflow" vert="horz" wrap="square" lIns="45720" tIns="22860" rIns="45720" bIns="22860" numCol="1" spcCol="0" rtlCol="0" fromWordArt="0" anchor="t" anchorCtr="0" forceAA="0" compatLnSpc="1">
            <a:prstTxWarp prst="textNoShape">
              <a:avLst/>
            </a:prstTxWarp>
            <a:spAutoFit/>
          </a:bodyPr>
          <a:lstStyle/>
          <a:p>
            <a:r>
              <a:rPr lang="en-US" sz="2700" b="1">
                <a:latin typeface="Times New Roman"/>
              </a:rPr>
              <a:t>Conclusion</a:t>
            </a:r>
            <a:endParaRPr lang="en-US" sz="2700" b="1"/>
          </a:p>
        </p:txBody>
      </p:sp>
      <p:pic>
        <p:nvPicPr>
          <p:cNvPr id="7" name="object 2" descr="A black background with orange and purple text&#10;&#10;AI-generated content may be incorrect.">
            <a:extLst>
              <a:ext uri="{FF2B5EF4-FFF2-40B4-BE49-F238E27FC236}">
                <a16:creationId xmlns:a16="http://schemas.microsoft.com/office/drawing/2014/main" id="{2AD7986E-86B9-DDF6-ABB4-5B543D98A215}"/>
              </a:ext>
            </a:extLst>
          </p:cNvPr>
          <p:cNvPicPr/>
          <p:nvPr/>
        </p:nvPicPr>
        <p:blipFill>
          <a:blip r:embed="rId2" cstate="print"/>
          <a:stretch>
            <a:fillRect/>
          </a:stretch>
        </p:blipFill>
        <p:spPr>
          <a:xfrm>
            <a:off x="7125809" y="79218"/>
            <a:ext cx="1887236" cy="791337"/>
          </a:xfrm>
          <a:prstGeom prst="rect">
            <a:avLst/>
          </a:prstGeom>
        </p:spPr>
      </p:pic>
      <p:sp>
        <p:nvSpPr>
          <p:cNvPr id="6" name="TextBox 5">
            <a:extLst>
              <a:ext uri="{FF2B5EF4-FFF2-40B4-BE49-F238E27FC236}">
                <a16:creationId xmlns:a16="http://schemas.microsoft.com/office/drawing/2014/main" id="{C999A79E-7ADA-403A-0B5F-F7DE9670763D}"/>
              </a:ext>
            </a:extLst>
          </p:cNvPr>
          <p:cNvSpPr txBox="1"/>
          <p:nvPr/>
        </p:nvSpPr>
        <p:spPr>
          <a:xfrm>
            <a:off x="688848" y="1036374"/>
            <a:ext cx="7479792" cy="3554819"/>
          </a:xfrm>
          <a:prstGeom prst="rect">
            <a:avLst/>
          </a:prstGeom>
          <a:noFill/>
        </p:spPr>
        <p:txBody>
          <a:bodyPr wrap="square">
            <a:spAutoFit/>
          </a:bodyPr>
          <a:lstStyle/>
          <a:p>
            <a:pPr>
              <a:buNone/>
            </a:pPr>
            <a:r>
              <a:rPr lang="en-IN" sz="1500" b="1" dirty="0">
                <a:latin typeface="Times New Roman" panose="02020603050405020304" pitchFamily="18" charset="0"/>
                <a:cs typeface="Times New Roman" panose="02020603050405020304" pitchFamily="18" charset="0"/>
              </a:rPr>
              <a:t>Economic Feasibility</a:t>
            </a:r>
          </a:p>
          <a:p>
            <a:pPr>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Traditional Call </a:t>
            </a:r>
            <a:r>
              <a:rPr lang="en-IN" sz="1500" b="1" dirty="0" err="1">
                <a:latin typeface="Times New Roman" panose="02020603050405020304" pitchFamily="18" charset="0"/>
                <a:cs typeface="Times New Roman" panose="02020603050405020304" pitchFamily="18" charset="0"/>
              </a:rPr>
              <a:t>Center</a:t>
            </a:r>
            <a:r>
              <a:rPr lang="en-IN" sz="1500" b="1" dirty="0">
                <a:latin typeface="Times New Roman" panose="02020603050405020304" pitchFamily="18" charset="0"/>
                <a:cs typeface="Times New Roman" panose="02020603050405020304" pitchFamily="18" charset="0"/>
              </a:rPr>
              <a:t> Cost</a:t>
            </a:r>
            <a:r>
              <a:rPr lang="en-IN" sz="15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3 support staff required to handle student queries.</a:t>
            </a:r>
          </a:p>
          <a:p>
            <a:pPr marL="742950" lvl="1"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Avg. salary: ₹20,000/month per staff.</a:t>
            </a:r>
          </a:p>
          <a:p>
            <a:pPr marL="742950" lvl="1"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Annual cost = </a:t>
            </a:r>
            <a:r>
              <a:rPr lang="en-IN" sz="1500" b="1" dirty="0">
                <a:latin typeface="Times New Roman" panose="02020603050405020304" pitchFamily="18" charset="0"/>
                <a:cs typeface="Times New Roman" panose="02020603050405020304" pitchFamily="18" charset="0"/>
              </a:rPr>
              <a:t>₹7,20,000</a:t>
            </a:r>
            <a:r>
              <a:rPr lang="en-IN" sz="15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Proposed AI Assistant Cost</a:t>
            </a:r>
            <a:r>
              <a:rPr lang="en-IN" sz="15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Vapi.ai</a:t>
            </a:r>
            <a:r>
              <a:rPr lang="en-IN" sz="1500" dirty="0">
                <a:latin typeface="Times New Roman" panose="02020603050405020304" pitchFamily="18" charset="0"/>
                <a:cs typeface="Times New Roman" panose="02020603050405020304" pitchFamily="18" charset="0"/>
              </a:rPr>
              <a:t>: ~₹3,000/month (voice AI &amp; speech processing).</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Twilio</a:t>
            </a:r>
            <a:r>
              <a:rPr lang="en-IN" sz="1500" dirty="0">
                <a:latin typeface="Times New Roman" panose="02020603050405020304" pitchFamily="18" charset="0"/>
                <a:cs typeface="Times New Roman" panose="02020603050405020304" pitchFamily="18" charset="0"/>
              </a:rPr>
              <a:t>: ~₹3,500/month (calls &amp; SMS integration).</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Make.com</a:t>
            </a:r>
            <a:r>
              <a:rPr lang="en-IN" sz="1500" dirty="0">
                <a:latin typeface="Times New Roman" panose="02020603050405020304" pitchFamily="18" charset="0"/>
                <a:cs typeface="Times New Roman" panose="02020603050405020304" pitchFamily="18" charset="0"/>
              </a:rPr>
              <a:t>: ~₹2,000/month (workflow automation).</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Total Monthly Cost</a:t>
            </a:r>
            <a:r>
              <a:rPr lang="en-IN" sz="1500" dirty="0">
                <a:latin typeface="Times New Roman" panose="02020603050405020304" pitchFamily="18" charset="0"/>
                <a:cs typeface="Times New Roman" panose="02020603050405020304" pitchFamily="18" charset="0"/>
              </a:rPr>
              <a:t> = ~₹8,500</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Annual Cost</a:t>
            </a:r>
            <a:r>
              <a:rPr lang="en-IN" sz="1500" dirty="0">
                <a:latin typeface="Times New Roman" panose="02020603050405020304" pitchFamily="18" charset="0"/>
                <a:cs typeface="Times New Roman" panose="02020603050405020304" pitchFamily="18" charset="0"/>
              </a:rPr>
              <a:t> = ~₹1,02,000</a:t>
            </a:r>
          </a:p>
          <a:p>
            <a:pPr>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Net Savings</a:t>
            </a:r>
            <a:r>
              <a:rPr lang="en-IN" sz="15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Traditional Call </a:t>
            </a:r>
            <a:r>
              <a:rPr lang="en-IN" sz="1500" dirty="0" err="1">
                <a:latin typeface="Times New Roman" panose="02020603050405020304" pitchFamily="18" charset="0"/>
                <a:cs typeface="Times New Roman" panose="02020603050405020304" pitchFamily="18" charset="0"/>
              </a:rPr>
              <a:t>Center</a:t>
            </a:r>
            <a:r>
              <a:rPr lang="en-IN" sz="1500" dirty="0">
                <a:latin typeface="Times New Roman" panose="02020603050405020304" pitchFamily="18" charset="0"/>
                <a:cs typeface="Times New Roman" panose="02020603050405020304" pitchFamily="18" charset="0"/>
              </a:rPr>
              <a:t>: ~₹7,20,000/year</a:t>
            </a:r>
          </a:p>
          <a:p>
            <a:pPr marL="742950" lvl="1"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Proposed AI Assistant: ~₹1,02,000/year</a:t>
            </a:r>
          </a:p>
          <a:p>
            <a:pPr marL="742950" lvl="1" indent="-285750">
              <a:buFont typeface="Arial" panose="020B0604020202020204" pitchFamily="34" charset="0"/>
              <a:buChar char="•"/>
            </a:pPr>
            <a:r>
              <a:rPr lang="en-IN" sz="1500" b="1" dirty="0">
                <a:latin typeface="Times New Roman" panose="02020603050405020304" pitchFamily="18" charset="0"/>
                <a:cs typeface="Times New Roman" panose="02020603050405020304" pitchFamily="18" charset="0"/>
              </a:rPr>
              <a:t>Savings = ~₹6,18,000/year (~86% cost reduction)</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774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21ABA-4AD6-752A-0B23-7FC28B2B6275}"/>
              </a:ext>
            </a:extLst>
          </p:cNvPr>
          <p:cNvSpPr>
            <a:spLocks noGrp="1"/>
          </p:cNvSpPr>
          <p:nvPr>
            <p:ph type="title"/>
          </p:nvPr>
        </p:nvSpPr>
        <p:spPr>
          <a:xfrm>
            <a:off x="495300" y="-133350"/>
            <a:ext cx="6743700" cy="1066800"/>
          </a:xfrm>
        </p:spPr>
        <p:txBody>
          <a:bodyPr spcFirstLastPara="1" wrap="square" lIns="0" tIns="0" rIns="0" bIns="0" anchor="ctr" anchorCtr="0">
            <a:normAutofit/>
          </a:bodyPr>
          <a:lstStyle/>
          <a:p>
            <a:pPr algn="ctr"/>
            <a:r>
              <a:rPr lang="en-US" sz="2700" dirty="0"/>
              <a:t>References</a:t>
            </a:r>
          </a:p>
        </p:txBody>
      </p:sp>
      <p:sp>
        <p:nvSpPr>
          <p:cNvPr id="3" name="Text Placeholder 2">
            <a:extLst>
              <a:ext uri="{FF2B5EF4-FFF2-40B4-BE49-F238E27FC236}">
                <a16:creationId xmlns:a16="http://schemas.microsoft.com/office/drawing/2014/main" id="{D0BEC32E-7BD6-FF8E-799B-5E1E5947275F}"/>
              </a:ext>
            </a:extLst>
          </p:cNvPr>
          <p:cNvSpPr>
            <a:spLocks noGrp="1"/>
          </p:cNvSpPr>
          <p:nvPr>
            <p:ph type="body" idx="1"/>
          </p:nvPr>
        </p:nvSpPr>
        <p:spPr>
          <a:xfrm>
            <a:off x="199697" y="1092419"/>
            <a:ext cx="8535713" cy="3581400"/>
          </a:xfrm>
        </p:spPr>
        <p:txBody>
          <a:bodyPr spcFirstLastPara="1" wrap="square" lIns="0" tIns="0" rIns="0" bIns="0" anchor="ctr" anchorCtr="0">
            <a:normAutofit fontScale="92500"/>
          </a:bodyPr>
          <a:lstStyle/>
          <a:p>
            <a:pPr>
              <a:lnSpc>
                <a:spcPct val="90000"/>
              </a:lnSpc>
              <a:spcAft>
                <a:spcPts val="300"/>
              </a:spcAft>
            </a:pPr>
            <a:r>
              <a:rPr lang="en-US" sz="1200" dirty="0">
                <a:latin typeface="Times New Roman"/>
                <a:ea typeface="Calibri"/>
                <a:cs typeface="Calibri"/>
              </a:rPr>
              <a:t> </a:t>
            </a:r>
            <a:r>
              <a:rPr lang="en-US" sz="1200" dirty="0">
                <a:latin typeface="Times New Roman"/>
                <a:ea typeface="+mn-lt"/>
                <a:cs typeface="Times New Roman"/>
              </a:rPr>
              <a:t>[1] G. Singh, P. Singh, and M. Singh, “Advanced Real‑Time Fraud Detection Using RAG‑Based LLMs,” *</a:t>
            </a:r>
            <a:r>
              <a:rPr lang="en-US" sz="1200" dirty="0" err="1">
                <a:latin typeface="Times New Roman"/>
                <a:ea typeface="+mn-lt"/>
                <a:cs typeface="Times New Roman"/>
              </a:rPr>
              <a:t>arXiv</a:t>
            </a:r>
            <a:r>
              <a:rPr lang="en-US" sz="1200" dirty="0">
                <a:latin typeface="Times New Roman"/>
                <a:ea typeface="+mn-lt"/>
                <a:cs typeface="Times New Roman"/>
              </a:rPr>
              <a:t> preprint arXiv:2501.15290*, 25 Jan. 2025.</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[2] A. Qamar, A. Raghuvanshi, C. Sathi, and Y. Son, “Auto Review: Second Stage Error Detection for Highly Accurate Information Extraction from Phone Conversations,” *</a:t>
            </a:r>
            <a:r>
              <a:rPr lang="en-US" sz="1200" dirty="0" err="1">
                <a:latin typeface="Times New Roman"/>
                <a:ea typeface="+mn-lt"/>
                <a:cs typeface="Times New Roman"/>
              </a:rPr>
              <a:t>arXiv</a:t>
            </a:r>
            <a:r>
              <a:rPr lang="en-US" sz="1200" dirty="0">
                <a:latin typeface="Times New Roman"/>
                <a:ea typeface="+mn-lt"/>
                <a:cs typeface="Times New Roman"/>
              </a:rPr>
              <a:t> preprint arXiv:2506.05400*, Jun. 2025.</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[3] P. Ranjan, S. Majumder, and P. Roy, “Generative Voice Bursts during Phone Call,” *</a:t>
            </a:r>
            <a:r>
              <a:rPr lang="en-US" sz="1200" dirty="0" err="1">
                <a:latin typeface="Times New Roman"/>
                <a:ea typeface="+mn-lt"/>
                <a:cs typeface="Times New Roman"/>
              </a:rPr>
              <a:t>arXiv</a:t>
            </a:r>
            <a:r>
              <a:rPr lang="en-US" sz="1200" dirty="0">
                <a:latin typeface="Times New Roman"/>
                <a:ea typeface="+mn-lt"/>
                <a:cs typeface="Times New Roman"/>
              </a:rPr>
              <a:t> preprint arXiv:2506.07526*, 9 Jun. 2025.</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[4] G. Liu, P. Zhao, L. Liu, Y. Guo, H. Xiao, W. Lin, Y. Chai *et al*., “LLM‑Powered GUI Agents in Phone Automation: Surveying Progress and Prospects,” *</a:t>
            </a:r>
            <a:r>
              <a:rPr lang="en-US" sz="1200" dirty="0" err="1">
                <a:latin typeface="Times New Roman"/>
                <a:ea typeface="+mn-lt"/>
                <a:cs typeface="Times New Roman"/>
              </a:rPr>
              <a:t>arXiv</a:t>
            </a:r>
            <a:r>
              <a:rPr lang="en-US" sz="1200" dirty="0">
                <a:latin typeface="Times New Roman"/>
                <a:ea typeface="+mn-lt"/>
                <a:cs typeface="Times New Roman"/>
              </a:rPr>
              <a:t> preprint arXiv:2504.19838*, Apr. 2025.</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[5] L. Wang, N. Huang, Y. Hong, L. Liu, X. Guo, and G. Chen, “Voice-based AI in call center customer service: A natural field experiment,” *Production and Operations Management*, vol. 32, no. 4, pp. 1002–1018, Apr. 2023, </a:t>
            </a:r>
            <a:r>
              <a:rPr lang="en-US" sz="1200" dirty="0" err="1">
                <a:latin typeface="Times New Roman"/>
                <a:ea typeface="+mn-lt"/>
                <a:cs typeface="Times New Roman"/>
              </a:rPr>
              <a:t>doi</a:t>
            </a:r>
            <a:r>
              <a:rPr lang="en-US" sz="1200" dirty="0">
                <a:latin typeface="Times New Roman"/>
                <a:ea typeface="+mn-lt"/>
                <a:cs typeface="Times New Roman"/>
              </a:rPr>
              <a:t>: 10.1111/poms.13953. :</a:t>
            </a:r>
            <a:r>
              <a:rPr lang="en-US" sz="1200" dirty="0" err="1">
                <a:latin typeface="Times New Roman"/>
                <a:ea typeface="+mn-lt"/>
                <a:cs typeface="Times New Roman"/>
              </a:rPr>
              <a:t>contentReference</a:t>
            </a:r>
            <a:r>
              <a:rPr lang="en-US" sz="1200" dirty="0">
                <a:latin typeface="Times New Roman"/>
                <a:ea typeface="+mn-lt"/>
                <a:cs typeface="Times New Roman"/>
              </a:rPr>
              <a:t>[oaicite:1]{index=1}</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[6] S. Shah, H. Ghomeshi, E. </a:t>
            </a:r>
            <a:r>
              <a:rPr lang="en-US" sz="1200" dirty="0" err="1">
                <a:latin typeface="Times New Roman"/>
                <a:ea typeface="+mn-lt"/>
                <a:cs typeface="Times New Roman"/>
              </a:rPr>
              <a:t>Vakaj</a:t>
            </a:r>
            <a:r>
              <a:rPr lang="en-US" sz="1200" dirty="0">
                <a:latin typeface="Times New Roman"/>
                <a:ea typeface="+mn-lt"/>
                <a:cs typeface="Times New Roman"/>
              </a:rPr>
              <a:t>, E. Cooper, and S. Fouad, “A review of natural language processing in contact </a:t>
            </a:r>
            <a:r>
              <a:rPr lang="en-US" sz="1200" dirty="0" err="1">
                <a:latin typeface="Times New Roman"/>
                <a:ea typeface="+mn-lt"/>
                <a:cs typeface="Times New Roman"/>
              </a:rPr>
              <a:t>centre</a:t>
            </a:r>
            <a:r>
              <a:rPr lang="en-US" sz="1200" dirty="0">
                <a:latin typeface="Times New Roman"/>
                <a:ea typeface="+mn-lt"/>
                <a:cs typeface="Times New Roman"/>
              </a:rPr>
              <a:t> automation,” *Pattern Analysis and Applications*, vol. 26, no. 3, pp. 823–846, Jun. 2023, </a:t>
            </a:r>
            <a:r>
              <a:rPr lang="en-US" sz="1200" dirty="0" err="1">
                <a:latin typeface="Times New Roman"/>
                <a:ea typeface="+mn-lt"/>
                <a:cs typeface="Times New Roman"/>
              </a:rPr>
              <a:t>doi</a:t>
            </a:r>
            <a:r>
              <a:rPr lang="en-US" sz="1200" dirty="0">
                <a:latin typeface="Times New Roman"/>
                <a:ea typeface="+mn-lt"/>
                <a:cs typeface="Times New Roman"/>
              </a:rPr>
              <a:t>: 10.1007/s10044-023-01182-8. :</a:t>
            </a:r>
            <a:r>
              <a:rPr lang="en-US" sz="1200" dirty="0" err="1">
                <a:latin typeface="Times New Roman"/>
                <a:ea typeface="+mn-lt"/>
                <a:cs typeface="Times New Roman"/>
              </a:rPr>
              <a:t>contentReference</a:t>
            </a:r>
            <a:r>
              <a:rPr lang="en-US" sz="1200" dirty="0">
                <a:latin typeface="Times New Roman"/>
                <a:ea typeface="+mn-lt"/>
                <a:cs typeface="Times New Roman"/>
              </a:rPr>
              <a:t>[oaicite:2]{index=2}</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a:p>
            <a:pPr>
              <a:lnSpc>
                <a:spcPct val="90000"/>
              </a:lnSpc>
              <a:spcAft>
                <a:spcPts val="300"/>
              </a:spcAft>
            </a:pPr>
            <a:r>
              <a:rPr lang="en-US" sz="1200" dirty="0">
                <a:latin typeface="Times New Roman"/>
                <a:ea typeface="+mn-lt"/>
                <a:cs typeface="Times New Roman"/>
              </a:rPr>
              <a:t>[7] E. Coman, “IVR systems used in call center management: a </a:t>
            </a:r>
            <a:r>
              <a:rPr lang="en-US" sz="1200" dirty="0" err="1">
                <a:latin typeface="Times New Roman"/>
                <a:ea typeface="+mn-lt"/>
                <a:cs typeface="Times New Roman"/>
              </a:rPr>
              <a:t>scientometric</a:t>
            </a:r>
            <a:r>
              <a:rPr lang="en-US" sz="1200" dirty="0">
                <a:latin typeface="Times New Roman"/>
                <a:ea typeface="+mn-lt"/>
                <a:cs typeface="Times New Roman"/>
              </a:rPr>
              <a:t> analysis of the literature,” *Frontiers in Computer Science*, vol. 7, Apr. 2025, Art. no. 1459787, </a:t>
            </a:r>
            <a:r>
              <a:rPr lang="en-US" sz="1200" dirty="0" err="1">
                <a:latin typeface="Times New Roman"/>
                <a:ea typeface="+mn-lt"/>
                <a:cs typeface="Times New Roman"/>
              </a:rPr>
              <a:t>doi</a:t>
            </a:r>
            <a:r>
              <a:rPr lang="en-US" sz="1200" dirty="0">
                <a:latin typeface="Times New Roman"/>
                <a:ea typeface="+mn-lt"/>
                <a:cs typeface="Times New Roman"/>
              </a:rPr>
              <a:t>: 10.3389/fcomp.2025.1459787.  </a:t>
            </a:r>
            <a:r>
              <a:rPr lang="en-US" sz="1200" dirty="0" err="1">
                <a:latin typeface="Times New Roman"/>
                <a:ea typeface="+mn-lt"/>
                <a:cs typeface="Times New Roman"/>
              </a:rPr>
              <a:t>contentReference</a:t>
            </a:r>
            <a:r>
              <a:rPr lang="en-US" sz="1200" dirty="0">
                <a:latin typeface="Times New Roman"/>
                <a:ea typeface="+mn-lt"/>
                <a:cs typeface="Times New Roman"/>
              </a:rPr>
              <a:t>[oaicite:3]{index=3}</a:t>
            </a:r>
            <a:endParaRPr lang="en-US" sz="1200" dirty="0">
              <a:latin typeface="Times New Roman"/>
              <a:ea typeface="Calibri"/>
              <a:cs typeface="Times New Roman"/>
            </a:endParaRPr>
          </a:p>
          <a:p>
            <a:pPr>
              <a:lnSpc>
                <a:spcPct val="90000"/>
              </a:lnSpc>
              <a:spcAft>
                <a:spcPts val="300"/>
              </a:spcAft>
            </a:pPr>
            <a:endParaRPr lang="en-US" sz="1200" dirty="0">
              <a:latin typeface="Times New Roman"/>
              <a:ea typeface="Calibri"/>
              <a:cs typeface="Calibri"/>
            </a:endParaRPr>
          </a:p>
        </p:txBody>
      </p:sp>
      <p:pic>
        <p:nvPicPr>
          <p:cNvPr id="4" name="object 2" descr="A black background with orange and purple text&#10;&#10;AI-generated content may be incorrect.">
            <a:extLst>
              <a:ext uri="{FF2B5EF4-FFF2-40B4-BE49-F238E27FC236}">
                <a16:creationId xmlns:a16="http://schemas.microsoft.com/office/drawing/2014/main" id="{B5E4382A-F3D5-FC3B-6888-EC828A969E21}"/>
              </a:ext>
            </a:extLst>
          </p:cNvPr>
          <p:cNvPicPr/>
          <p:nvPr/>
        </p:nvPicPr>
        <p:blipFill>
          <a:blip r:embed="rId2" cstate="print"/>
          <a:stretch>
            <a:fillRect/>
          </a:stretch>
        </p:blipFill>
        <p:spPr>
          <a:xfrm>
            <a:off x="7125809" y="79218"/>
            <a:ext cx="1887236" cy="791337"/>
          </a:xfrm>
          <a:prstGeom prst="rect">
            <a:avLst/>
          </a:prstGeom>
        </p:spPr>
      </p:pic>
    </p:spTree>
    <p:extLst>
      <p:ext uri="{BB962C8B-B14F-4D97-AF65-F5344CB8AC3E}">
        <p14:creationId xmlns:p14="http://schemas.microsoft.com/office/powerpoint/2010/main" val="362767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2"/>
          <p:cNvSpPr/>
          <p:nvPr/>
        </p:nvSpPr>
        <p:spPr>
          <a:xfrm>
            <a:off x="14225" y="1721850"/>
            <a:ext cx="9122100" cy="1699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2"/>
          <p:cNvSpPr txBox="1">
            <a:spLocks noGrp="1"/>
          </p:cNvSpPr>
          <p:nvPr>
            <p:ph type="ctrTitle"/>
          </p:nvPr>
        </p:nvSpPr>
        <p:spPr>
          <a:xfrm>
            <a:off x="1763550" y="2092950"/>
            <a:ext cx="5616900" cy="957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3600" b="1">
                <a:solidFill>
                  <a:schemeClr val="lt1"/>
                </a:solidFill>
                <a:latin typeface="Montserrat"/>
                <a:ea typeface="Montserrat"/>
                <a:cs typeface="Montserrat"/>
                <a:sym typeface="Montserrat"/>
              </a:rPr>
              <a:t>Thank You!</a:t>
            </a:r>
            <a:endParaRPr sz="3600" b="1">
              <a:solidFill>
                <a:schemeClr val="lt1"/>
              </a:solidFill>
              <a:latin typeface="Montserrat"/>
              <a:ea typeface="Montserrat"/>
              <a:cs typeface="Montserrat"/>
              <a:sym typeface="Montserrat"/>
            </a:endParaRPr>
          </a:p>
        </p:txBody>
      </p:sp>
      <p:pic>
        <p:nvPicPr>
          <p:cNvPr id="140" name="Google Shape;140;p22"/>
          <p:cNvPicPr preferRelativeResize="0"/>
          <p:nvPr/>
        </p:nvPicPr>
        <p:blipFill rotWithShape="1">
          <a:blip r:embed="rId3">
            <a:alphaModFix/>
          </a:blip>
          <a:srcRect l="-6706" t="799" r="6706" b="-799"/>
          <a:stretch/>
        </p:blipFill>
        <p:spPr>
          <a:xfrm rot="10800000">
            <a:off x="14225" y="-82194"/>
            <a:ext cx="1838400" cy="5143501"/>
          </a:xfrm>
          <a:prstGeom prst="rect">
            <a:avLst/>
          </a:prstGeom>
          <a:noFill/>
          <a:ln>
            <a:noFill/>
          </a:ln>
        </p:spPr>
      </p:pic>
    </p:spTree>
  </p:cSld>
  <p:clrMapOvr>
    <a:masterClrMapping/>
  </p:clrMapOvr>
  <p:transition spd="slow">
    <p:wipe/>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834</TotalTime>
  <Words>2318</Words>
  <Application>Microsoft Office PowerPoint</Application>
  <PresentationFormat>On-screen Show (16:9)</PresentationFormat>
  <Paragraphs>293</Paragraphs>
  <Slides>22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Calibri</vt:lpstr>
      <vt:lpstr>Montserrat</vt:lpstr>
      <vt:lpstr>Arial</vt:lpstr>
      <vt:lpstr>Simple Light</vt:lpstr>
      <vt:lpstr>PowerPoint Presentation</vt:lpstr>
      <vt:lpstr>Project Description</vt:lpstr>
      <vt:lpstr>Research Gap</vt:lpstr>
      <vt:lpstr>Introduction</vt:lpstr>
      <vt:lpstr>Research Gap</vt:lpstr>
      <vt:lpstr>Abstract </vt:lpstr>
      <vt:lpstr>Hardware / Software Specification</vt:lpstr>
      <vt:lpstr>Literature Survey</vt:lpstr>
      <vt:lpstr>Literature Survey</vt:lpstr>
      <vt:lpstr>Methodology </vt:lpstr>
      <vt:lpstr>Module Description </vt:lpstr>
      <vt:lpstr>Module Description</vt:lpstr>
      <vt:lpstr>Module Description</vt:lpstr>
      <vt:lpstr>PowerPoint Presentation</vt:lpstr>
      <vt:lpstr>PowerPoint Presentation</vt:lpstr>
      <vt:lpstr>PowerPoint Presentation</vt:lpstr>
      <vt:lpstr>PowerPoint Presentation</vt:lpstr>
      <vt:lpstr>Project Screenshots</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title here</dc:title>
  <dc:creator>91880</dc:creator>
  <cp:lastModifiedBy>Tanishka Borade</cp:lastModifiedBy>
  <cp:revision>28</cp:revision>
  <dcterms:modified xsi:type="dcterms:W3CDTF">2025-09-30T16:42:38Z</dcterms:modified>
</cp:coreProperties>
</file>